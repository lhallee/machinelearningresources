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da72ae22504e58" /><Relationship Type="http://schemas.openxmlformats.org/officeDocument/2006/relationships/extended-properties" Target="/docProps/app.xml" Id="R7d4fe6c926264fef" /><Relationship Type="http://schemas.openxmlformats.org/officeDocument/2006/relationships/officeDocument" Target="/ppt/presentation.xml" Id="Rcd5a40a4142e41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a1c65a53c5461f"/>
  </p:sldMasterIdLst>
  <p:notesMasterIdLst>
    <p:notesMasterId xmlns:r="http://schemas.openxmlformats.org/officeDocument/2006/relationships" r:id="Rab25d51af1a6452c"/>
  </p:notesMasterIdLst>
  <p:sldIdLst>
    <p:sldId xmlns:r="http://schemas.openxmlformats.org/officeDocument/2006/relationships" id="256" r:id="R7aebc57fd23f4f29"/>
    <p:sldId xmlns:r="http://schemas.openxmlformats.org/officeDocument/2006/relationships" id="257" r:id="R4c3edde845a64954"/>
    <p:sldId xmlns:r="http://schemas.openxmlformats.org/officeDocument/2006/relationships" id="258" r:id="R96308e6af4f84b7f"/>
    <p:sldId xmlns:r="http://schemas.openxmlformats.org/officeDocument/2006/relationships" id="259" r:id="R45db54a30b0a4274"/>
    <p:sldId xmlns:r="http://schemas.openxmlformats.org/officeDocument/2006/relationships" id="260" r:id="R63562f792fd04fa5"/>
    <p:sldId xmlns:r="http://schemas.openxmlformats.org/officeDocument/2006/relationships" id="261" r:id="Re5671819d0554bd4"/>
    <p:sldId xmlns:r="http://schemas.openxmlformats.org/officeDocument/2006/relationships" id="262" r:id="Rf239f0a9d4404d63"/>
    <p:sldId xmlns:r="http://schemas.openxmlformats.org/officeDocument/2006/relationships" id="263" r:id="R1a9247e5ff8c4755"/>
    <p:sldId xmlns:r="http://schemas.openxmlformats.org/officeDocument/2006/relationships" id="264" r:id="Rd6b89174394b46c5"/>
    <p:sldId xmlns:r="http://schemas.openxmlformats.org/officeDocument/2006/relationships" id="265" r:id="Rcf6506a6a32d4908"/>
    <p:sldId xmlns:r="http://schemas.openxmlformats.org/officeDocument/2006/relationships" id="266" r:id="Rc494d350035f461e"/>
    <p:sldId xmlns:r="http://schemas.openxmlformats.org/officeDocument/2006/relationships" id="267" r:id="R430d3a2b1e2e40a5"/>
    <p:sldId xmlns:r="http://schemas.openxmlformats.org/officeDocument/2006/relationships" id="268" r:id="R1306513fcced413f"/>
    <p:sldId xmlns:r="http://schemas.openxmlformats.org/officeDocument/2006/relationships" id="269" r:id="R94d846ca9d634e2b"/>
    <p:sldId xmlns:r="http://schemas.openxmlformats.org/officeDocument/2006/relationships" id="270" r:id="Rcaf0373e4d3b412c"/>
    <p:sldId xmlns:r="http://schemas.openxmlformats.org/officeDocument/2006/relationships" id="271" r:id="Rbc0cddcef3da48d2"/>
    <p:sldId xmlns:r="http://schemas.openxmlformats.org/officeDocument/2006/relationships" id="272" r:id="Rc25c8a8db23947a6"/>
    <p:sldId xmlns:r="http://schemas.openxmlformats.org/officeDocument/2006/relationships" id="273" r:id="R617a37709b01493f"/>
    <p:sldId xmlns:r="http://schemas.openxmlformats.org/officeDocument/2006/relationships" id="274" r:id="Rc73783eb6c254ba7"/>
    <p:sldId xmlns:r="http://schemas.openxmlformats.org/officeDocument/2006/relationships" id="275" r:id="R1bd2ac99d0ab4b08"/>
    <p:sldId xmlns:r="http://schemas.openxmlformats.org/officeDocument/2006/relationships" id="276" r:id="Rd18f38be5b194b65"/>
    <p:sldId xmlns:r="http://schemas.openxmlformats.org/officeDocument/2006/relationships" id="277" r:id="R99bd3386542b42bd"/>
    <p:sldId xmlns:r="http://schemas.openxmlformats.org/officeDocument/2006/relationships" id="278" r:id="Re99661a8d4ba4ac8"/>
    <p:sldId xmlns:r="http://schemas.openxmlformats.org/officeDocument/2006/relationships" id="279" r:id="R0851f5cbaec549a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daa086b43e4ea5" /><Relationship Type="http://schemas.openxmlformats.org/officeDocument/2006/relationships/slideMaster" Target="/ppt/slideMasters/slideMaster1.xml" Id="R0ba1c65a53c5461f" /><Relationship Type="http://schemas.openxmlformats.org/officeDocument/2006/relationships/notesMaster" Target="/ppt/notesMasters/notesMaster1.xml" Id="Rab25d51af1a6452c" /><Relationship Type="http://schemas.openxmlformats.org/officeDocument/2006/relationships/presProps" Target="/ppt/presProps.xml" Id="R55f03047f71147a4" /><Relationship Type="http://schemas.openxmlformats.org/officeDocument/2006/relationships/tableStyles" Target="/ppt/tableStyles.xml" Id="R3109e40cde954f57" /><Relationship Type="http://schemas.openxmlformats.org/officeDocument/2006/relationships/slide" Target="/ppt/slides/slide1.xml" Id="R7aebc57fd23f4f29" /><Relationship Type="http://schemas.openxmlformats.org/officeDocument/2006/relationships/slide" Target="/ppt/slides/slide2.xml" Id="R4c3edde845a64954" /><Relationship Type="http://schemas.openxmlformats.org/officeDocument/2006/relationships/slide" Target="/ppt/slides/slide3.xml" Id="R96308e6af4f84b7f" /><Relationship Type="http://schemas.openxmlformats.org/officeDocument/2006/relationships/slide" Target="/ppt/slides/slide4.xml" Id="R45db54a30b0a4274" /><Relationship Type="http://schemas.openxmlformats.org/officeDocument/2006/relationships/slide" Target="/ppt/slides/slide5.xml" Id="R63562f792fd04fa5" /><Relationship Type="http://schemas.openxmlformats.org/officeDocument/2006/relationships/slide" Target="/ppt/slides/slide6.xml" Id="Re5671819d0554bd4" /><Relationship Type="http://schemas.openxmlformats.org/officeDocument/2006/relationships/slide" Target="/ppt/slides/slide7.xml" Id="Rf239f0a9d4404d63" /><Relationship Type="http://schemas.openxmlformats.org/officeDocument/2006/relationships/slide" Target="/ppt/slides/slide8.xml" Id="R1a9247e5ff8c4755" /><Relationship Type="http://schemas.openxmlformats.org/officeDocument/2006/relationships/slide" Target="/ppt/slides/slide9.xml" Id="Rd6b89174394b46c5" /><Relationship Type="http://schemas.openxmlformats.org/officeDocument/2006/relationships/slide" Target="/ppt/slides/slide10.xml" Id="Rcf6506a6a32d4908" /><Relationship Type="http://schemas.openxmlformats.org/officeDocument/2006/relationships/slide" Target="/ppt/slides/slide11.xml" Id="Rc494d350035f461e" /><Relationship Type="http://schemas.openxmlformats.org/officeDocument/2006/relationships/slide" Target="/ppt/slides/slide12.xml" Id="R430d3a2b1e2e40a5" /><Relationship Type="http://schemas.openxmlformats.org/officeDocument/2006/relationships/slide" Target="/ppt/slides/slide13.xml" Id="R1306513fcced413f" /><Relationship Type="http://schemas.openxmlformats.org/officeDocument/2006/relationships/slide" Target="/ppt/slides/slide14.xml" Id="R94d846ca9d634e2b" /><Relationship Type="http://schemas.openxmlformats.org/officeDocument/2006/relationships/slide" Target="/ppt/slides/slide15.xml" Id="Rcaf0373e4d3b412c" /><Relationship Type="http://schemas.openxmlformats.org/officeDocument/2006/relationships/slide" Target="/ppt/slides/slide16.xml" Id="Rbc0cddcef3da48d2" /><Relationship Type="http://schemas.openxmlformats.org/officeDocument/2006/relationships/slide" Target="/ppt/slides/slide17.xml" Id="Rc25c8a8db23947a6" /><Relationship Type="http://schemas.openxmlformats.org/officeDocument/2006/relationships/slide" Target="/ppt/slides/slide18.xml" Id="R617a37709b01493f" /><Relationship Type="http://schemas.openxmlformats.org/officeDocument/2006/relationships/slide" Target="/ppt/slides/slide19.xml" Id="Rc73783eb6c254ba7" /><Relationship Type="http://schemas.openxmlformats.org/officeDocument/2006/relationships/slide" Target="/ppt/slides/slide20.xml" Id="R1bd2ac99d0ab4b08" /><Relationship Type="http://schemas.openxmlformats.org/officeDocument/2006/relationships/slide" Target="/ppt/slides/slide21.xml" Id="Rd18f38be5b194b65" /><Relationship Type="http://schemas.openxmlformats.org/officeDocument/2006/relationships/slide" Target="/ppt/slides/slide22.xml" Id="R99bd3386542b42bd" /><Relationship Type="http://schemas.openxmlformats.org/officeDocument/2006/relationships/slide" Target="/ppt/slides/slide23.xml" Id="Re99661a8d4ba4ac8" /><Relationship Type="http://schemas.openxmlformats.org/officeDocument/2006/relationships/slide" Target="/ppt/slides/slide24.xml" Id="R0851f5cbaec549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fa22869a924c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12fe572f994691" /><Relationship Type="http://schemas.openxmlformats.org/officeDocument/2006/relationships/notesMaster" Target="/ppt/notesMasters/notesMaster1.xml" Id="R4ce2403a46624e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e73e81e7424cd6" /><Relationship Type="http://schemas.openxmlformats.org/officeDocument/2006/relationships/notesMaster" Target="/ppt/notesMasters/notesMaster1.xml" Id="R86c689e62ffb48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f9a53bed194415" /><Relationship Type="http://schemas.openxmlformats.org/officeDocument/2006/relationships/notesMaster" Target="/ppt/notesMasters/notesMaster1.xml" Id="R17c12037c99a44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1dbaa418ca4e6d" /><Relationship Type="http://schemas.openxmlformats.org/officeDocument/2006/relationships/notesMaster" Target="/ppt/notesMasters/notesMaster1.xml" Id="R12883544346a49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74ff0a0fb1436d" /><Relationship Type="http://schemas.openxmlformats.org/officeDocument/2006/relationships/notesMaster" Target="/ppt/notesMasters/notesMaster1.xml" Id="R0e92085a43304f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9edf080ba24137" /><Relationship Type="http://schemas.openxmlformats.org/officeDocument/2006/relationships/notesMaster" Target="/ppt/notesMasters/notesMaster1.xml" Id="Re30b544f6d2742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87007dc10f4c84" /><Relationship Type="http://schemas.openxmlformats.org/officeDocument/2006/relationships/notesMaster" Target="/ppt/notesMasters/notesMaster1.xml" Id="Rb4b04200f2b941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3f5d84498c4472" /><Relationship Type="http://schemas.openxmlformats.org/officeDocument/2006/relationships/notesMaster" Target="/ppt/notesMasters/notesMaster1.xml" Id="R40e047153d3743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5f9d84dd184ab7" /><Relationship Type="http://schemas.openxmlformats.org/officeDocument/2006/relationships/notesMaster" Target="/ppt/notesMasters/notesMaster1.xml" Id="Rf3ff065482b945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ecbb2523ef43da" /><Relationship Type="http://schemas.openxmlformats.org/officeDocument/2006/relationships/notesMaster" Target="/ppt/notesMasters/notesMaster1.xml" Id="Rac382b6b01e04c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6d79437d0d4711" /><Relationship Type="http://schemas.openxmlformats.org/officeDocument/2006/relationships/notesMaster" Target="/ppt/notesMasters/notesMaster1.xml" Id="R3f5f0fb0dae142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6ece0011ba4fb8" /><Relationship Type="http://schemas.openxmlformats.org/officeDocument/2006/relationships/notesMaster" Target="/ppt/notesMasters/notesMaster1.xml" Id="R0fce4f0c902546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fd922a2590d4920" /><Relationship Type="http://schemas.openxmlformats.org/officeDocument/2006/relationships/notesMaster" Target="/ppt/notesMasters/notesMaster1.xml" Id="Rb5189285d30d4a9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3c6912079e4a85" /><Relationship Type="http://schemas.openxmlformats.org/officeDocument/2006/relationships/notesMaster" Target="/ppt/notesMasters/notesMaster1.xml" Id="R88140cf0c4e141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94d028cd7ad4b8d" /><Relationship Type="http://schemas.openxmlformats.org/officeDocument/2006/relationships/notesMaster" Target="/ppt/notesMasters/notesMaster1.xml" Id="Raefa2b0c9c314f2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f0c194fcacb427d" /><Relationship Type="http://schemas.openxmlformats.org/officeDocument/2006/relationships/notesMaster" Target="/ppt/notesMasters/notesMaster1.xml" Id="Rd2195ce41ca84de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a6bbc36b5941b6" /><Relationship Type="http://schemas.openxmlformats.org/officeDocument/2006/relationships/notesMaster" Target="/ppt/notesMasters/notesMaster1.xml" Id="Rc3a2ef81db0040d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b63defccae415d" /><Relationship Type="http://schemas.openxmlformats.org/officeDocument/2006/relationships/notesMaster" Target="/ppt/notesMasters/notesMaster1.xml" Id="R7e90c30dd7af4bb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65546975fd422e" /><Relationship Type="http://schemas.openxmlformats.org/officeDocument/2006/relationships/notesMaster" Target="/ppt/notesMasters/notesMaster1.xml" Id="Re6910b38b42a450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eddf0c22774f03" /><Relationship Type="http://schemas.openxmlformats.org/officeDocument/2006/relationships/notesMaster" Target="/ppt/notesMasters/notesMaster1.xml" Id="R94dff9e12cde4bb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aefea5981694324" /><Relationship Type="http://schemas.openxmlformats.org/officeDocument/2006/relationships/notesMaster" Target="/ppt/notesMasters/notesMaster1.xml" Id="R451a58ef320e4f6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6dde917cf8c4b8b" /><Relationship Type="http://schemas.openxmlformats.org/officeDocument/2006/relationships/notesMaster" Target="/ppt/notesMasters/notesMaster1.xml" Id="R95f6d3b1cb044d2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ac3a091edd74e9d" /><Relationship Type="http://schemas.openxmlformats.org/officeDocument/2006/relationships/notesMaster" Target="/ppt/notesMasters/notesMaster1.xml" Id="R257eed3aa9d5448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5abaddb17254090" /><Relationship Type="http://schemas.openxmlformats.org/officeDocument/2006/relationships/notesMaster" Target="/ppt/notesMasters/notesMaster1.xml" Id="Rf0d2b6ab621b4a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core claim: representation learning gives useful coordinates to things that did not start as numbers. Keep this concrete and energetic.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what numbers they would assign to a car, a sentence, or a protein. The point is that the choice of coordinates is already part of the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expectations for the talk: first the math spine, then car categories, then breadth across recommendations, image-text search, language, and proteins.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this to familiar functions. The new piece is that the function has parameters that training can tune.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vectors as locations. Students do not need high-dimensional intuition yet; two dimensions are enough to understand distance and direction.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alignment as the bridge to dot products and attention. Similar vectors pointing the same way get large scores.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gradient descent as moving coordinates and knobs so the useful answer becomes easier. This is the moment where training becomes geometry.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deliberately bad category IDs. Make clear that assigning red=1 and blue=2 does not mean blue is twice 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Compare the three representations as design choices. Integer IDs are compact but misleading, one-hot is honest but sparse, embeddings are learned coordinates.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car case study as a concrete experiment. Do not frame it as the whole argument; it is a small laboratory for representation choice.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the strong result: fake order breaks the model. One-hot and embeddings both work well; the embedding map is useful but the metric comparison is mixed.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projection with care. The map is learned for a prediction task and compressed to two dimensions for viewing.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Widen the lens. Representation learning is the same move behind recommendations, retrieval, language, biology, and many other systems.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recommender learns coordinates for people and items. Nearby directions mean a likely match, not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multimodal search as a powerful breadth example: images and text can live in a shared vector space.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ModernBERT fills blanks by learning language representations. Keep this as a clean example of prediction creating meaning.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bank as the memorable context example. The spelling stays the same, but the vector changes when the surrounding words change.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a transformer layer as repeated vector updating: compare, mix information, update the representation.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Attention is a scaled-up dot-product idea. Keep it high-level and visual.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biology. Proteins are sequences over a small alphabet, so the language-model idea naturally transfers.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Protein language models learn patterns from sequence data that can support annotation, similarity search, mutation reasoning, and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live demo bridge. Name the input, embedding, neighbors, predicted function labels, and design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applications concrete: annotation, search, design triage, and experiment prioritization.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unifying idea: once a thing has useful coordinates, math can compare it, organize it, predict from it, and help design with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9e3c7bdba049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405b5e16d244e1" /><Relationship Type="http://schemas.openxmlformats.org/officeDocument/2006/relationships/slideLayout" Target="/ppt/slideLayouts/slideLayout1.xml" Id="R3a29b7d5584d4b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29b7d5584d4b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5be88d88f4792" /><Relationship Type="http://schemas.openxmlformats.org/officeDocument/2006/relationships/image" Target="/ppt/media/image.png" Id="R4355ad9aca894751" /><Relationship Type="http://schemas.openxmlformats.org/officeDocument/2006/relationships/notesSlide" Target="/ppt/notesSlides/notesSlide1.xml" Id="Rcd545924e6874f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bb42c661e4cc2" /><Relationship Type="http://schemas.openxmlformats.org/officeDocument/2006/relationships/notesSlide" Target="/ppt/notesSlides/notesSlide2.xml" Id="R381545ba3f3e49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b3c83c0c04668" /><Relationship Type="http://schemas.openxmlformats.org/officeDocument/2006/relationships/notesSlide" Target="/ppt/notesSlides/notesSlide3.xml" Id="Rdbda02a1f9d944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3ceb27206419d" /><Relationship Type="http://schemas.openxmlformats.org/officeDocument/2006/relationships/notesSlide" Target="/ppt/notesSlides/notesSlide4.xml" Id="R498f2f9cad8b4f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f7f142eb84d1d" /><Relationship Type="http://schemas.openxmlformats.org/officeDocument/2006/relationships/notesSlide" Target="/ppt/notesSlides/notesSlide5.xml" Id="R039545906a724d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33bbe2f114198" /><Relationship Type="http://schemas.openxmlformats.org/officeDocument/2006/relationships/notesSlide" Target="/ppt/notesSlides/notesSlide6.xml" Id="R530c352de6fd45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2ec621987468b" /><Relationship Type="http://schemas.openxmlformats.org/officeDocument/2006/relationships/notesSlide" Target="/ppt/notesSlides/notesSlide7.xml" Id="R1a3cebc1ccd34c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768b6795b4073" /><Relationship Type="http://schemas.openxmlformats.org/officeDocument/2006/relationships/notesSlide" Target="/ppt/notesSlides/notesSlide8.xml" Id="Rd4cb1073a7464c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5080b42234ecc" /><Relationship Type="http://schemas.openxmlformats.org/officeDocument/2006/relationships/notesSlide" Target="/ppt/notesSlides/notesSlide9.xml" Id="Ree385939298144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b69c940b748fa" /><Relationship Type="http://schemas.openxmlformats.org/officeDocument/2006/relationships/notesSlide" Target="/ppt/notesSlides/notesSlide10.xml" Id="Rd688c480d8664f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4b720006b4298" /><Relationship Type="http://schemas.openxmlformats.org/officeDocument/2006/relationships/chart" Target="/ppt/slides/charts/chart1.xml" Id="R9de1de17de3e4627" /><Relationship Type="http://schemas.openxmlformats.org/officeDocument/2006/relationships/notesSlide" Target="/ppt/notesSlides/notesSlide11.xml" Id="Rb6eb12f4066a4c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4e2c67f264da5" /><Relationship Type="http://schemas.openxmlformats.org/officeDocument/2006/relationships/notesSlide" Target="/ppt/notesSlides/notesSlide12.xml" Id="Rfd0079120cec45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5a347d91543ad" /><Relationship Type="http://schemas.openxmlformats.org/officeDocument/2006/relationships/notesSlide" Target="/ppt/notesSlides/notesSlide13.xml" Id="R1b14dd1c14f343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09e8520304bab" /><Relationship Type="http://schemas.openxmlformats.org/officeDocument/2006/relationships/notesSlide" Target="/ppt/notesSlides/notesSlide14.xml" Id="R4c19f1a261bf47e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f3e15dd8643e9" /><Relationship Type="http://schemas.openxmlformats.org/officeDocument/2006/relationships/image" Target="/ppt/media/image2.png" Id="R7bdd7b1ddfae4a62" /><Relationship Type="http://schemas.openxmlformats.org/officeDocument/2006/relationships/notesSlide" Target="/ppt/notesSlides/notesSlide15.xml" Id="Rd45bdbe831ff47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04aacaac44f57" /><Relationship Type="http://schemas.openxmlformats.org/officeDocument/2006/relationships/notesSlide" Target="/ppt/notesSlides/notesSlide16.xml" Id="R5d874939961643d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c0221b7a84794" /><Relationship Type="http://schemas.openxmlformats.org/officeDocument/2006/relationships/notesSlide" Target="/ppt/notesSlides/notesSlide17.xml" Id="R3ff3c712012149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b990eb4b04a56" /><Relationship Type="http://schemas.openxmlformats.org/officeDocument/2006/relationships/notesSlide" Target="/ppt/notesSlides/notesSlide18.xml" Id="R19355139590c4a7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7f079ea124e82" /><Relationship Type="http://schemas.openxmlformats.org/officeDocument/2006/relationships/notesSlide" Target="/ppt/notesSlides/notesSlide19.xml" Id="R0daa0f2d8ba1425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f9b724cc740f5" /><Relationship Type="http://schemas.openxmlformats.org/officeDocument/2006/relationships/image" Target="/ppt/media/image3.png" Id="R4b9bd4c1fa2846ac" /><Relationship Type="http://schemas.openxmlformats.org/officeDocument/2006/relationships/notesSlide" Target="/ppt/notesSlides/notesSlide20.xml" Id="R9a71a2115ce74fc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a7b7646b94a97" /><Relationship Type="http://schemas.openxmlformats.org/officeDocument/2006/relationships/notesSlide" Target="/ppt/notesSlides/notesSlide21.xml" Id="R0aa782f47d13452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a0249e50f64793" /><Relationship Type="http://schemas.openxmlformats.org/officeDocument/2006/relationships/notesSlide" Target="/ppt/notesSlides/notesSlide22.xml" Id="Rda1a33e5c92d4b2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9356bd4254feb" /><Relationship Type="http://schemas.openxmlformats.org/officeDocument/2006/relationships/notesSlide" Target="/ppt/notesSlides/notesSlide23.xml" Id="R3ab19edb93be401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3add83e6c4b80" /><Relationship Type="http://schemas.openxmlformats.org/officeDocument/2006/relationships/notesSlide" Target="/ppt/notesSlides/notesSlide24.xml" Id="Ree82fcb4bb604036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v>Relative RMSE</c:v>
          </c:tx>
          <c:spPr>
            <a:solidFill xmlns:a="http://schemas.openxmlformats.org/drawingml/2006/main">
              <a:srgbClr val="2F6FDB"/>
            </a:solidFill>
          </c:spPr>
          <c:dPt>
            <c:idx val="0"/>
            <c:spPr>
              <a:solidFill xmlns:a="http://schemas.openxmlformats.org/drawingml/2006/main">
                <a:srgbClr val="B83B2E"/>
              </a:solidFill>
            </c:spPr>
          </c:dPt>
          <c:dPt>
            <c:idx val="1"/>
            <c:spPr>
              <a:solidFill xmlns:a="http://schemas.openxmlformats.org/drawingml/2006/main">
                <a:srgbClr val="DCA62B"/>
              </a:solidFill>
            </c:spPr>
          </c:dPt>
          <c:dPt>
            <c:idx val="2"/>
            <c:spPr>
              <a:solidFill xmlns:a="http://schemas.openxmlformats.org/drawingml/2006/main">
                <a:srgbClr val="2F6FDB"/>
              </a:solidFill>
            </c:spPr>
          </c:dPt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Integer IDs</c:v>
              </c:pt>
              <c:pt idx="1">
                <c:v>One-hot</c:v>
              </c:pt>
              <c:pt idx="2">
                <c:v>Embeddings</c:v>
              </c:pt>
            </c:strLit>
          </c:cat>
          <c:val>
            <c:numLit>
              <c:formatCode>General</c:formatCode>
              <c:ptCount val="3"/>
              <c:pt idx="0">
                <c:v>28.5</c:v>
              </c:pt>
              <c:pt idx="1">
                <c:v>1.05</c:v>
              </c:pt>
              <c:pt idx="2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7201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7201C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DAC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/>
                  <a:t>RMSE relative to embeddings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625F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5ad9aca894751"/>
          <a:srcRect xmlns:a="http://schemas.openxmlformats.org/drawingml/2006/main" l="15998" t="0" r="1599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05250" y="0"/>
            <a:ext cx="8286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82CCA1FA-1A4F-4548-8764-530F3DD4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5A54763-214E-4734-95DC-4D30D3A8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09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Representation Learning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6FC5875-A7B0-4CEC-810D-45851F1C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Useful coordinates for cars, words, proteins, and anything else we want math to understand.</a:t>
            </a:r>
          </a:p>
        </p:txBody>
      </p:sp>
      <p:sp>
        <p:nvSpPr>
          <p:cNvPr id="5" name="cover-bottom">
            <a:extLst xmlns:a="http://schemas.openxmlformats.org/drawingml/2006/main">
              <a:ext uri="{FF2B5EF4-FFF2-40B4-BE49-F238E27FC236}">
                <a16:creationId xmlns:a16="http://schemas.microsoft.com/office/drawing/2014/main" id="{4A4BDDDC-0DDD-48A2-B323-07C1841A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 school math summer camp</a:t>
            </a:r>
          </a:p>
        </p:txBody>
      </p:sp>
      <p:sp>
        <p:nvSpPr>
          <p:cNvPr id="6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9CD4042B-575A-4636-B283-AFFF19A1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7F007389-4ED8-4903-9422-11014383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99437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20438079-727D-48DD-9BBD-C902D293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What Numbers Should We Give the World?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566D7643-4879-4902-A675-65ABAEFA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 representation is a choice of coordinates for an object.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368600C-3F6A-40F1-9461-F7A20BEC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2">
            <a:extLst xmlns:a="http://schemas.openxmlformats.org/drawingml/2006/main">
              <a:ext uri="{FF2B5EF4-FFF2-40B4-BE49-F238E27FC236}">
                <a16:creationId xmlns:a16="http://schemas.microsoft.com/office/drawing/2014/main" id="{A0DB7195-CC8E-4A51-B543-3D0BD081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world-0">
            <a:extLst xmlns:a="http://schemas.openxmlformats.org/drawingml/2006/main">
              <a:ext uri="{FF2B5EF4-FFF2-40B4-BE49-F238E27FC236}">
                <a16:creationId xmlns:a16="http://schemas.microsoft.com/office/drawing/2014/main" id="{6FD7C71F-8270-4482-9995-877EA0E2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F6FDB"/>
            </a:solidFill>
            <a:prstDash val="solid"/>
          </a:ln>
        </p:spPr>
      </p:sp>
      <p:sp>
        <p:nvSpPr>
          <p:cNvPr id="6" name="world-name-0">
            <a:extLst xmlns:a="http://schemas.openxmlformats.org/drawingml/2006/main">
              <a:ext uri="{FF2B5EF4-FFF2-40B4-BE49-F238E27FC236}">
                <a16:creationId xmlns:a16="http://schemas.microsoft.com/office/drawing/2014/main" id="{D75E9EAE-9E8A-4F89-BF13-871FF7C9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car</a:t>
            </a:r>
          </a:p>
        </p:txBody>
      </p:sp>
      <p:sp>
        <p:nvSpPr>
          <p:cNvPr id="7" name="world-detail-0">
            <a:extLst xmlns:a="http://schemas.openxmlformats.org/drawingml/2006/main">
              <a:ext uri="{FF2B5EF4-FFF2-40B4-BE49-F238E27FC236}">
                <a16:creationId xmlns:a16="http://schemas.microsoft.com/office/drawing/2014/main" id="{ECE0DD6D-7AF5-411F-9EC9-2B476007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year, mileage, model</a:t>
            </a:r>
          </a:p>
        </p:txBody>
      </p:sp>
      <p:sp>
        <p:nvSpPr>
          <p:cNvPr id="8" name="world-1">
            <a:extLst xmlns:a="http://schemas.openxmlformats.org/drawingml/2006/main">
              <a:ext uri="{FF2B5EF4-FFF2-40B4-BE49-F238E27FC236}">
                <a16:creationId xmlns:a16="http://schemas.microsoft.com/office/drawing/2014/main" id="{228414D6-CACD-4ECC-901F-6995993C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717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6E5AEF"/>
            </a:solidFill>
            <a:prstDash val="solid"/>
          </a:ln>
        </p:spPr>
      </p:sp>
      <p:sp>
        <p:nvSpPr>
          <p:cNvPr id="9" name="world-name-1">
            <a:extLst xmlns:a="http://schemas.openxmlformats.org/drawingml/2006/main">
              <a:ext uri="{FF2B5EF4-FFF2-40B4-BE49-F238E27FC236}">
                <a16:creationId xmlns:a16="http://schemas.microsoft.com/office/drawing/2014/main" id="{135C6B93-3F18-4BCE-A5FD-DE997BA5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0512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sentence</a:t>
            </a:r>
          </a:p>
        </p:txBody>
      </p:sp>
      <p:sp>
        <p:nvSpPr>
          <p:cNvPr id="10" name="world-detail-1">
            <a:extLst xmlns:a="http://schemas.openxmlformats.org/drawingml/2006/main">
              <a:ext uri="{FF2B5EF4-FFF2-40B4-BE49-F238E27FC236}">
                <a16:creationId xmlns:a16="http://schemas.microsoft.com/office/drawing/2014/main" id="{24A9C2EF-4281-44BA-8DFF-52389F72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0050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tokens and context</a:t>
            </a:r>
          </a:p>
        </p:txBody>
      </p:sp>
      <p:sp>
        <p:nvSpPr>
          <p:cNvPr id="11" name="world-2">
            <a:extLst xmlns:a="http://schemas.openxmlformats.org/drawingml/2006/main">
              <a:ext uri="{FF2B5EF4-FFF2-40B4-BE49-F238E27FC236}">
                <a16:creationId xmlns:a16="http://schemas.microsoft.com/office/drawing/2014/main" id="{733354DA-8ABF-4C31-8474-F1BE1301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717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8C7E"/>
            </a:solidFill>
            <a:prstDash val="solid"/>
          </a:ln>
        </p:spPr>
      </p:sp>
      <p:sp>
        <p:nvSpPr>
          <p:cNvPr id="12" name="world-name-2">
            <a:extLst xmlns:a="http://schemas.openxmlformats.org/drawingml/2006/main">
              <a:ext uri="{FF2B5EF4-FFF2-40B4-BE49-F238E27FC236}">
                <a16:creationId xmlns:a16="http://schemas.microsoft.com/office/drawing/2014/main" id="{3C9020D3-26D3-4895-B4C6-BB4289DB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protein</a:t>
            </a:r>
          </a:p>
        </p:txBody>
      </p:sp>
      <p:sp>
        <p:nvSpPr>
          <p:cNvPr id="13" name="world-detail-2">
            <a:extLst xmlns:a="http://schemas.openxmlformats.org/drawingml/2006/main">
              <a:ext uri="{FF2B5EF4-FFF2-40B4-BE49-F238E27FC236}">
                <a16:creationId xmlns:a16="http://schemas.microsoft.com/office/drawing/2014/main" id="{07C8FC1D-4748-496B-B156-CFFAB8BF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amino acid sequence</a:t>
            </a:r>
          </a:p>
        </p:txBody>
      </p:sp>
      <p:sp>
        <p:nvSpPr>
          <p:cNvPr id="14" name="world-3">
            <a:extLst xmlns:a="http://schemas.openxmlformats.org/drawingml/2006/main">
              <a:ext uri="{FF2B5EF4-FFF2-40B4-BE49-F238E27FC236}">
                <a16:creationId xmlns:a16="http://schemas.microsoft.com/office/drawing/2014/main" id="{C9F23FBD-080C-406A-B928-0A396457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717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CA62B"/>
            </a:solidFill>
            <a:prstDash val="solid"/>
          </a:ln>
        </p:spPr>
      </p:sp>
      <p:sp>
        <p:nvSpPr>
          <p:cNvPr id="15" name="world-name-3">
            <a:extLst xmlns:a="http://schemas.openxmlformats.org/drawingml/2006/main">
              <a:ext uri="{FF2B5EF4-FFF2-40B4-BE49-F238E27FC236}">
                <a16:creationId xmlns:a16="http://schemas.microsoft.com/office/drawing/2014/main" id="{68B887E2-E062-4E66-A5EE-35C91BB7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0512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person</a:t>
            </a:r>
          </a:p>
        </p:txBody>
      </p:sp>
      <p:sp>
        <p:nvSpPr>
          <p:cNvPr id="16" name="world-detail-3">
            <a:extLst xmlns:a="http://schemas.openxmlformats.org/drawingml/2006/main">
              <a:ext uri="{FF2B5EF4-FFF2-40B4-BE49-F238E27FC236}">
                <a16:creationId xmlns:a16="http://schemas.microsoft.com/office/drawing/2014/main" id="{348CF57A-FD00-44F6-A863-CD1F9537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00050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taste and behavior</a:t>
            </a:r>
          </a:p>
        </p:txBody>
      </p:sp>
      <p:sp>
        <p:nvSpPr>
          <p:cNvPr id="17" name="coordinate-promise">
            <a:extLst xmlns:a="http://schemas.openxmlformats.org/drawingml/2006/main">
              <a:ext uri="{FF2B5EF4-FFF2-40B4-BE49-F238E27FC236}">
                <a16:creationId xmlns:a16="http://schemas.microsoft.com/office/drawing/2014/main" id="{8CD8D111-9A0A-42E9-A804-8ABDA8E3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95900"/>
            <a:ext cx="805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Good coordinates make useful relationships visible.</a:t>
            </a:r>
          </a:p>
        </p:txBody>
      </p:sp>
      <p:sp>
        <p:nvSpPr>
          <p:cNvPr id="18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D88079F1-6C5B-4489-89D8-82CC056A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919D1E5C-D01B-4137-91DE-F1132218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842741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">
            <a:extLst xmlns:a="http://schemas.openxmlformats.org/drawingml/2006/main">
              <a:ext uri="{FF2B5EF4-FFF2-40B4-BE49-F238E27FC236}">
                <a16:creationId xmlns:a16="http://schemas.microsoft.com/office/drawing/2014/main" id="{E994BEC3-D337-4E18-A01B-E8BD1C28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 Roadmap from Math to Biology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88CA77ED-C149-4A59-9298-799D6D8B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talk follows one idea through several domains.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18313C2-9A67-427B-AC63-D26AEAEE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3">
            <a:extLst xmlns:a="http://schemas.openxmlformats.org/drawingml/2006/main">
              <a:ext uri="{FF2B5EF4-FFF2-40B4-BE49-F238E27FC236}">
                <a16:creationId xmlns:a16="http://schemas.microsoft.com/office/drawing/2014/main" id="{E36EE38F-7574-47F2-8F5C-CE62A190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oad-node-0">
            <a:extLst xmlns:a="http://schemas.openxmlformats.org/drawingml/2006/main">
              <a:ext uri="{FF2B5EF4-FFF2-40B4-BE49-F238E27FC236}">
                <a16:creationId xmlns:a16="http://schemas.microsoft.com/office/drawing/2014/main" id="{796E123D-FD1F-4082-8E23-08116743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05A28"/>
            </a:solidFill>
            <a:prstDash val="solid"/>
          </a:ln>
        </p:spPr>
      </p:sp>
      <p:sp>
        <p:nvSpPr>
          <p:cNvPr id="6" name="road-num-0">
            <a:extLst xmlns:a="http://schemas.openxmlformats.org/drawingml/2006/main">
              <a:ext uri="{FF2B5EF4-FFF2-40B4-BE49-F238E27FC236}">
                <a16:creationId xmlns:a16="http://schemas.microsoft.com/office/drawing/2014/main" id="{F5C0B9DC-851B-4ADC-BA20-61A395EE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road-label-0">
            <a:extLst xmlns:a="http://schemas.openxmlformats.org/drawingml/2006/main">
              <a:ext uri="{FF2B5EF4-FFF2-40B4-BE49-F238E27FC236}">
                <a16:creationId xmlns:a16="http://schemas.microsoft.com/office/drawing/2014/main" id="{BEF030F1-FFF3-4371-9719-819A3456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vectors</a:t>
            </a:r>
          </a:p>
        </p:txBody>
      </p:sp>
      <p:sp>
        <p:nvSpPr>
          <p:cNvPr id="8" name="road-node-1">
            <a:extLst xmlns:a="http://schemas.openxmlformats.org/drawingml/2006/main">
              <a:ext uri="{FF2B5EF4-FFF2-40B4-BE49-F238E27FC236}">
                <a16:creationId xmlns:a16="http://schemas.microsoft.com/office/drawing/2014/main" id="{EFF64D24-94BB-41B2-B8CD-BB40CDD1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33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05A28"/>
            </a:solidFill>
            <a:prstDash val="solid"/>
          </a:ln>
        </p:spPr>
      </p:sp>
      <p:sp>
        <p:nvSpPr>
          <p:cNvPr id="9" name="road-num-1">
            <a:extLst xmlns:a="http://schemas.openxmlformats.org/drawingml/2006/main">
              <a:ext uri="{FF2B5EF4-FFF2-40B4-BE49-F238E27FC236}">
                <a16:creationId xmlns:a16="http://schemas.microsoft.com/office/drawing/2014/main" id="{6E30C0FF-BE25-4E7A-BA41-87206D73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05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road-label-1">
            <a:extLst xmlns:a="http://schemas.openxmlformats.org/drawingml/2006/main">
              <a:ext uri="{FF2B5EF4-FFF2-40B4-BE49-F238E27FC236}">
                <a16:creationId xmlns:a16="http://schemas.microsoft.com/office/drawing/2014/main" id="{C4D50445-1587-48A8-86F8-C673A877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95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cxnSp>
        <p:nvCxnSpPr>
          <p:cNvPr id="37" name=""/>
          <p:cNvCxnSpPr>
            <a:stCxn xmlns:a="http://schemas.openxmlformats.org/drawingml/2006/main" id="5" idx="6"/>
            <a:endCxn xmlns:a="http://schemas.openxmlformats.org/drawingml/2006/main" id="8" idx="2"/>
          </p:cNvCxnSpPr>
          <p:nvPr/>
        </p:nvCxnSpPr>
        <p:spPr>
          <a:xfrm xmlns:a="http://schemas.openxmlformats.org/drawingml/2006/main">
            <a:off x="1752600" y="33718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2" name="road-node-2">
            <a:extLst xmlns:a="http://schemas.openxmlformats.org/drawingml/2006/main">
              <a:ext uri="{FF2B5EF4-FFF2-40B4-BE49-F238E27FC236}">
                <a16:creationId xmlns:a16="http://schemas.microsoft.com/office/drawing/2014/main" id="{D65FB406-28BD-4665-BCC2-452ED25C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33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F6FDB"/>
            </a:solidFill>
            <a:prstDash val="solid"/>
          </a:ln>
        </p:spPr>
      </p:sp>
      <p:sp>
        <p:nvSpPr>
          <p:cNvPr id="13" name="road-num-2">
            <a:extLst xmlns:a="http://schemas.openxmlformats.org/drawingml/2006/main">
              <a:ext uri="{FF2B5EF4-FFF2-40B4-BE49-F238E27FC236}">
                <a16:creationId xmlns:a16="http://schemas.microsoft.com/office/drawing/2014/main" id="{4743F7DC-926F-499F-94FD-F4246A23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05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road-label-2">
            <a:extLst xmlns:a="http://schemas.openxmlformats.org/drawingml/2006/main">
              <a:ext uri="{FF2B5EF4-FFF2-40B4-BE49-F238E27FC236}">
                <a16:creationId xmlns:a16="http://schemas.microsoft.com/office/drawing/2014/main" id="{95D5F482-61B0-4553-B298-DA6E8838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95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car categories</a:t>
            </a:r>
          </a:p>
        </p:txBody>
      </p:sp>
      <p:cxnSp>
        <p:nvCxnSpPr>
          <p:cNvPr id="41" name=""/>
          <p:cNvCxnSpPr>
            <a:stCxn xmlns:a="http://schemas.openxmlformats.org/drawingml/2006/main" id="8" idx="6"/>
            <a:endCxn xmlns:a="http://schemas.openxmlformats.org/drawingml/2006/main" id="12" idx="2"/>
          </p:cNvCxnSpPr>
          <p:nvPr/>
        </p:nvCxnSpPr>
        <p:spPr>
          <a:xfrm xmlns:a="http://schemas.openxmlformats.org/drawingml/2006/main">
            <a:off x="3962400" y="33718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6" name="road-node-3">
            <a:extLst xmlns:a="http://schemas.openxmlformats.org/drawingml/2006/main">
              <a:ext uri="{FF2B5EF4-FFF2-40B4-BE49-F238E27FC236}">
                <a16:creationId xmlns:a16="http://schemas.microsoft.com/office/drawing/2014/main" id="{9B04AB3E-04F0-41CB-A57F-9ECCE07C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33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6E5AEF"/>
            </a:solidFill>
            <a:prstDash val="solid"/>
          </a:ln>
        </p:spPr>
      </p:sp>
      <p:sp>
        <p:nvSpPr>
          <p:cNvPr id="17" name="road-num-3">
            <a:extLst xmlns:a="http://schemas.openxmlformats.org/drawingml/2006/main">
              <a:ext uri="{FF2B5EF4-FFF2-40B4-BE49-F238E27FC236}">
                <a16:creationId xmlns:a16="http://schemas.microsoft.com/office/drawing/2014/main" id="{F8CB151B-C1F3-48F3-946B-C434FE3A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05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road-label-3">
            <a:extLst xmlns:a="http://schemas.openxmlformats.org/drawingml/2006/main">
              <a:ext uri="{FF2B5EF4-FFF2-40B4-BE49-F238E27FC236}">
                <a16:creationId xmlns:a16="http://schemas.microsoft.com/office/drawing/2014/main" id="{813111F0-CD80-469B-8D6D-5B47D85C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95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language</a:t>
            </a:r>
          </a:p>
        </p:txBody>
      </p:sp>
      <p:cxnSp>
        <p:nvCxnSpPr>
          <p:cNvPr id="45" name=""/>
          <p:cNvCxnSpPr>
            <a:stCxn xmlns:a="http://schemas.openxmlformats.org/drawingml/2006/main" id="12" idx="6"/>
            <a:endCxn xmlns:a="http://schemas.openxmlformats.org/drawingml/2006/main" id="16" idx="2"/>
          </p:cNvCxnSpPr>
          <p:nvPr/>
        </p:nvCxnSpPr>
        <p:spPr>
          <a:xfrm xmlns:a="http://schemas.openxmlformats.org/drawingml/2006/main">
            <a:off x="6172200" y="33718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20" name="road-node-4">
            <a:extLst xmlns:a="http://schemas.openxmlformats.org/drawingml/2006/main">
              <a:ext uri="{FF2B5EF4-FFF2-40B4-BE49-F238E27FC236}">
                <a16:creationId xmlns:a16="http://schemas.microsoft.com/office/drawing/2014/main" id="{4D3749AB-431D-450B-9231-DAB78CBB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33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8C7E"/>
            </a:solidFill>
            <a:prstDash val="solid"/>
          </a:ln>
        </p:spPr>
      </p:sp>
      <p:sp>
        <p:nvSpPr>
          <p:cNvPr id="21" name="road-num-4">
            <a:extLst xmlns:a="http://schemas.openxmlformats.org/drawingml/2006/main">
              <a:ext uri="{FF2B5EF4-FFF2-40B4-BE49-F238E27FC236}">
                <a16:creationId xmlns:a16="http://schemas.microsoft.com/office/drawing/2014/main" id="{DFD09789-6CBD-4F0D-939C-969AFDC3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05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road-label-4">
            <a:extLst xmlns:a="http://schemas.openxmlformats.org/drawingml/2006/main">
              <a:ext uri="{FF2B5EF4-FFF2-40B4-BE49-F238E27FC236}">
                <a16:creationId xmlns:a16="http://schemas.microsoft.com/office/drawing/2014/main" id="{DFF5CE43-A400-4FA5-9961-F263B539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95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proteins</a:t>
            </a:r>
          </a:p>
        </p:txBody>
      </p:sp>
      <p:cxnSp>
        <p:nvCxnSpPr>
          <p:cNvPr id="49" name=""/>
          <p:cNvCxnSpPr>
            <a:stCxn xmlns:a="http://schemas.openxmlformats.org/drawingml/2006/main" id="16" idx="6"/>
            <a:endCxn xmlns:a="http://schemas.openxmlformats.org/drawingml/2006/main" id="20" idx="2"/>
          </p:cNvCxnSpPr>
          <p:nvPr/>
        </p:nvCxnSpPr>
        <p:spPr>
          <a:xfrm xmlns:a="http://schemas.openxmlformats.org/drawingml/2006/main">
            <a:off x="8382000" y="33718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24" name="road-note">
            <a:extLst xmlns:a="http://schemas.openxmlformats.org/drawingml/2006/main">
              <a:ext uri="{FF2B5EF4-FFF2-40B4-BE49-F238E27FC236}">
                <a16:creationId xmlns:a16="http://schemas.microsoft.com/office/drawing/2014/main" id="{0F077C87-B788-46E7-88DA-AB404E18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We start with familiar math, then use it to make sense of modern machine learning.</a:t>
            </a:r>
          </a:p>
        </p:txBody>
      </p:sp>
      <p:sp>
        <p:nvSpPr>
          <p:cNvPr id="25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5357CD86-8C14-41FC-8040-03F614C2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53171A92-3629-469F-B2A0-D639FAAA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274886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ABA41325-0F0F-4BAD-9102-039DD964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 Model Is a Function With Knobs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074E80AA-887D-41AF-ACC0-9A9B888B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Machine learning tunes the knobs so predictions become useful.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F8976FA-AB22-4742-AFD4-47EA59CE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4">
            <a:extLst xmlns:a="http://schemas.openxmlformats.org/drawingml/2006/main">
              <a:ext uri="{FF2B5EF4-FFF2-40B4-BE49-F238E27FC236}">
                <a16:creationId xmlns:a16="http://schemas.microsoft.com/office/drawing/2014/main" id="{5024575F-5D12-4416-8A58-2CFACE61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input-box">
            <a:extLst xmlns:a="http://schemas.openxmlformats.org/drawingml/2006/main">
              <a:ext uri="{FF2B5EF4-FFF2-40B4-BE49-F238E27FC236}">
                <a16:creationId xmlns:a16="http://schemas.microsoft.com/office/drawing/2014/main" id="{3AE9B474-CD38-4984-8B89-19F7F300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6" name="input-text">
            <a:extLst xmlns:a="http://schemas.openxmlformats.org/drawingml/2006/main">
              <a:ext uri="{FF2B5EF4-FFF2-40B4-BE49-F238E27FC236}">
                <a16:creationId xmlns:a16="http://schemas.microsoft.com/office/drawing/2014/main" id="{FC7F6362-BAD6-482F-A9C3-A5108E02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1945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input x</a:t>
            </a:r>
          </a:p>
        </p:txBody>
      </p:sp>
      <p:sp>
        <p:nvSpPr>
          <p:cNvPr id="7" name="function-box">
            <a:extLst xmlns:a="http://schemas.openxmlformats.org/drawingml/2006/main">
              <a:ext uri="{FF2B5EF4-FFF2-40B4-BE49-F238E27FC236}">
                <a16:creationId xmlns:a16="http://schemas.microsoft.com/office/drawing/2014/main" id="{5D0ABDFA-EC70-443B-999F-0DD425F7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2190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8" name="function-text">
            <a:extLst xmlns:a="http://schemas.openxmlformats.org/drawingml/2006/main">
              <a:ext uri="{FF2B5EF4-FFF2-40B4-BE49-F238E27FC236}">
                <a16:creationId xmlns:a16="http://schemas.microsoft.com/office/drawing/2014/main" id="{78610D75-D558-4573-A8E3-4E585C0B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1945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function f</a:t>
            </a:r>
          </a:p>
        </p:txBody>
      </p:sp>
      <p:sp>
        <p:nvSpPr>
          <p:cNvPr id="9" name="prediction-box">
            <a:extLst xmlns:a="http://schemas.openxmlformats.org/drawingml/2006/main">
              <a:ext uri="{FF2B5EF4-FFF2-40B4-BE49-F238E27FC236}">
                <a16:creationId xmlns:a16="http://schemas.microsoft.com/office/drawing/2014/main" id="{32380CE3-9C73-4101-A6C6-173E24E9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2076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0" name="prediction-text">
            <a:extLst xmlns:a="http://schemas.openxmlformats.org/drawingml/2006/main">
              <a:ext uri="{FF2B5EF4-FFF2-40B4-BE49-F238E27FC236}">
                <a16:creationId xmlns:a16="http://schemas.microsoft.com/office/drawing/2014/main" id="{A3469712-755C-4463-84B0-5BF94AF0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194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prediction y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76550" y="33909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6096000" y="33909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3" name="knobs">
            <a:extLst xmlns:a="http://schemas.openxmlformats.org/drawingml/2006/main">
              <a:ext uri="{FF2B5EF4-FFF2-40B4-BE49-F238E27FC236}">
                <a16:creationId xmlns:a16="http://schemas.microsoft.com/office/drawing/2014/main" id="{EC6336CF-94DA-4369-BCA0-9F08EB6D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47675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parameters are tunable numbers</a:t>
            </a:r>
          </a:p>
        </p:txBody>
      </p:sp>
      <p:sp>
        <p:nvSpPr>
          <p:cNvPr id="14" name="function-example">
            <a:extLst xmlns:a="http://schemas.openxmlformats.org/drawingml/2006/main">
              <a:ext uri="{FF2B5EF4-FFF2-40B4-BE49-F238E27FC236}">
                <a16:creationId xmlns:a16="http://schemas.microsoft.com/office/drawing/2014/main" id="{85DB733F-ED50-482F-A983-B1DB0173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28900"/>
            <a:ext cx="2190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car details -&gt; price</a:t>
            </a:r>
          </a:p>
          <a:p xmlns:a="http://schemas.openxmlformats.org/drawingml/2006/main">
            <a:pPr algn="l">
              <a:defRPr sz="16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sentence -&gt; missing word</a:t>
            </a:r>
          </a:p>
          <a:p xmlns:a="http://schemas.openxmlformats.org/drawingml/2006/main">
            <a:pPr algn="l">
              <a:defRPr sz="16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protein sequence -&gt; function label</a:t>
            </a:r>
          </a:p>
        </p:txBody>
      </p:sp>
      <p:sp>
        <p:nvSpPr>
          <p:cNvPr id="15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61C6B3BC-D8A4-4CD0-BD25-FD008584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738D3FA2-8414-4F89-BE89-74073C36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091967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605D1136-CAE3-45FD-AEE3-27F24A3A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Vectors Are Locations</a:t>
            </a:r>
          </a:p>
        </p:txBody>
      </p:sp>
      <p:sp>
        <p:nvSpPr>
          <p:cNvPr id="2" name="subtitle-5">
            <a:extLst xmlns:a="http://schemas.openxmlformats.org/drawingml/2006/main">
              <a:ext uri="{FF2B5EF4-FFF2-40B4-BE49-F238E27FC236}">
                <a16:creationId xmlns:a16="http://schemas.microsoft.com/office/drawing/2014/main" id="{A589CB0F-86B5-40E5-A79C-6855E8D1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Once an object becomes a vector, geometry becomes available.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66CF392-50FF-4C1C-9A7A-B7FBFFC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5">
            <a:extLst xmlns:a="http://schemas.openxmlformats.org/drawingml/2006/main">
              <a:ext uri="{FF2B5EF4-FFF2-40B4-BE49-F238E27FC236}">
                <a16:creationId xmlns:a16="http://schemas.microsoft.com/office/drawing/2014/main" id="{045DB0E4-7E4A-47E8-8670-8EA26957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vector-plane">
            <a:extLst xmlns:a="http://schemas.openxmlformats.org/drawingml/2006/main">
              <a:ext uri="{FF2B5EF4-FFF2-40B4-BE49-F238E27FC236}">
                <a16:creationId xmlns:a16="http://schemas.microsoft.com/office/drawing/2014/main" id="{9147A2A6-C9AD-4CE9-AC1B-2566A4C6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6096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A899E89D-372D-4410-BD0B-AA7890EF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81450"/>
            <a:ext cx="485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EB6A8"/>
            </a:solidFill>
            <a:prstDash val="solid"/>
          </a:ln>
        </p:spPr>
      </p:sp>
      <p:sp>
        <p:nvSpPr>
          <p:cNvPr id="7" name="axis-y">
            <a:extLst xmlns:a="http://schemas.openxmlformats.org/drawingml/2006/main">
              <a:ext uri="{FF2B5EF4-FFF2-40B4-BE49-F238E27FC236}">
                <a16:creationId xmlns:a16="http://schemas.microsoft.com/office/drawing/2014/main" id="{CC08D56A-07DC-482F-A351-07859874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76500"/>
            <a:ext cx="0" cy="2971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EB6A8"/>
            </a:solidFill>
            <a:prstDash val="solid"/>
          </a:ln>
        </p:spPr>
      </p:sp>
      <p:sp>
        <p:nvSpPr>
          <p:cNvPr id="8" name="vec-dot-0">
            <a:extLst xmlns:a="http://schemas.openxmlformats.org/drawingml/2006/main">
              <a:ext uri="{FF2B5EF4-FFF2-40B4-BE49-F238E27FC236}">
                <a16:creationId xmlns:a16="http://schemas.microsoft.com/office/drawing/2014/main" id="{8A0692EF-2EDE-4A78-9A2E-2B2FFFAD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76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vec-label-0">
            <a:extLst xmlns:a="http://schemas.openxmlformats.org/drawingml/2006/main">
              <a:ext uri="{FF2B5EF4-FFF2-40B4-BE49-F238E27FC236}">
                <a16:creationId xmlns:a16="http://schemas.microsoft.com/office/drawing/2014/main" id="{7E039346-0274-4971-A7A9-CEE48C25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386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sedan</a:t>
            </a:r>
          </a:p>
        </p:txBody>
      </p:sp>
      <p:sp>
        <p:nvSpPr>
          <p:cNvPr id="10" name="vec-dot-1">
            <a:extLst xmlns:a="http://schemas.openxmlformats.org/drawingml/2006/main">
              <a:ext uri="{FF2B5EF4-FFF2-40B4-BE49-F238E27FC236}">
                <a16:creationId xmlns:a16="http://schemas.microsoft.com/office/drawing/2014/main" id="{66F9A16D-A28D-435B-85E5-7A66005B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10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vec-label-1">
            <a:extLst xmlns:a="http://schemas.openxmlformats.org/drawingml/2006/main">
              <a:ext uri="{FF2B5EF4-FFF2-40B4-BE49-F238E27FC236}">
                <a16:creationId xmlns:a16="http://schemas.microsoft.com/office/drawing/2014/main" id="{8397DEE9-5222-499B-BC2F-CA8882BC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719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wagon</a:t>
            </a:r>
          </a:p>
        </p:txBody>
      </p:sp>
      <p:sp>
        <p:nvSpPr>
          <p:cNvPr id="12" name="vec-dot-2">
            <a:extLst xmlns:a="http://schemas.openxmlformats.org/drawingml/2006/main">
              <a:ext uri="{FF2B5EF4-FFF2-40B4-BE49-F238E27FC236}">
                <a16:creationId xmlns:a16="http://schemas.microsoft.com/office/drawing/2014/main" id="{F97DAFFB-FF56-4964-9763-E1ABCF70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19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c-label-2">
            <a:extLst xmlns:a="http://schemas.openxmlformats.org/drawingml/2006/main">
              <a:ext uri="{FF2B5EF4-FFF2-40B4-BE49-F238E27FC236}">
                <a16:creationId xmlns:a16="http://schemas.microsoft.com/office/drawing/2014/main" id="{1AB10218-8E09-4E1D-815B-411E7834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813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protein</a:t>
            </a:r>
          </a:p>
        </p:txBody>
      </p:sp>
      <p:sp>
        <p:nvSpPr>
          <p:cNvPr id="14" name="vec-dot-3">
            <a:extLst xmlns:a="http://schemas.openxmlformats.org/drawingml/2006/main">
              <a:ext uri="{FF2B5EF4-FFF2-40B4-BE49-F238E27FC236}">
                <a16:creationId xmlns:a16="http://schemas.microsoft.com/office/drawing/2014/main" id="{5E407892-DA6C-4E36-A7CD-FFEF72DA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486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c-label-3">
            <a:extLst xmlns:a="http://schemas.openxmlformats.org/drawingml/2006/main">
              <a:ext uri="{FF2B5EF4-FFF2-40B4-BE49-F238E27FC236}">
                <a16:creationId xmlns:a16="http://schemas.microsoft.com/office/drawing/2014/main" id="{0E770F07-A47E-4E06-8E54-CE27CBC6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480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enzyme</a:t>
            </a:r>
          </a:p>
        </p:txBody>
      </p:sp>
      <p:sp>
        <p:nvSpPr>
          <p:cNvPr id="16" name="vec-dot-4">
            <a:extLst xmlns:a="http://schemas.openxmlformats.org/drawingml/2006/main">
              <a:ext uri="{FF2B5EF4-FFF2-40B4-BE49-F238E27FC236}">
                <a16:creationId xmlns:a16="http://schemas.microsoft.com/office/drawing/2014/main" id="{3ABEC811-C826-4807-AC01-23FE02DE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00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vec-label-4">
            <a:extLst xmlns:a="http://schemas.openxmlformats.org/drawingml/2006/main">
              <a:ext uri="{FF2B5EF4-FFF2-40B4-BE49-F238E27FC236}">
                <a16:creationId xmlns:a16="http://schemas.microsoft.com/office/drawing/2014/main" id="{5BFA1D01-6DFE-456B-9A9C-DEA4AE26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96227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word</a:t>
            </a:r>
          </a:p>
        </p:txBody>
      </p:sp>
      <p:sp>
        <p:nvSpPr>
          <p:cNvPr id="18" name="vec-dot-5">
            <a:extLst xmlns:a="http://schemas.openxmlformats.org/drawingml/2006/main">
              <a:ext uri="{FF2B5EF4-FFF2-40B4-BE49-F238E27FC236}">
                <a16:creationId xmlns:a16="http://schemas.microsoft.com/office/drawing/2014/main" id="{DC118846-CEE9-4195-ACCA-2EA648E3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57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vec-label-5">
            <a:extLst xmlns:a="http://schemas.openxmlformats.org/drawingml/2006/main">
              <a:ext uri="{FF2B5EF4-FFF2-40B4-BE49-F238E27FC236}">
                <a16:creationId xmlns:a16="http://schemas.microsoft.com/office/drawing/2014/main" id="{860CAB9F-0635-4531-8A88-463774E4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194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phrase</a:t>
            </a:r>
          </a:p>
        </p:txBody>
      </p:sp>
      <p:sp>
        <p:nvSpPr>
          <p:cNvPr id="20" name="vector-copy">
            <a:extLst xmlns:a="http://schemas.openxmlformats.org/drawingml/2006/main">
              <a:ext uri="{FF2B5EF4-FFF2-40B4-BE49-F238E27FC236}">
                <a16:creationId xmlns:a16="http://schemas.microsoft.com/office/drawing/2014/main" id="{BE16A24E-F6BA-4A6C-A065-2258DD51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05100"/>
            <a:ext cx="3429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Distances and directions become clues:</a:t>
            </a:r>
          </a:p>
          <a:p xmlns:a="http://schemas.openxmlformats.org/drawingml/2006/main">
            <a:pPr algn="l">
              <a:defRPr sz="210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nearby points often behave similarly, and directions can encode useful changes.</a:t>
            </a:r>
          </a:p>
        </p:txBody>
      </p:sp>
      <p:sp>
        <p:nvSpPr>
          <p:cNvPr id="21" name="vector-foot">
            <a:extLst xmlns:a="http://schemas.openxmlformats.org/drawingml/2006/main">
              <a:ext uri="{FF2B5EF4-FFF2-40B4-BE49-F238E27FC236}">
                <a16:creationId xmlns:a16="http://schemas.microsoft.com/office/drawing/2014/main" id="{30241745-B207-4B53-9EBD-982589DC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2440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models usually use hundreds or thousands of dimensions. The 2D picture is the intuition.</a:t>
            </a:r>
          </a:p>
        </p:txBody>
      </p:sp>
      <p:sp>
        <p:nvSpPr>
          <p:cNvPr id="22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6334DBA3-85FB-43A5-8EA4-8D2818FD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61389526-CE17-4E69-AA2E-F03A5518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937548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B3E02CA6-112C-4D0B-BA03-03B7D87D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Dot Products Measure Alignment</a:t>
            </a:r>
          </a:p>
        </p:txBody>
      </p:sp>
      <p:sp>
        <p:nvSpPr>
          <p:cNvPr id="2" name="subtitle-6">
            <a:extLst xmlns:a="http://schemas.openxmlformats.org/drawingml/2006/main">
              <a:ext uri="{FF2B5EF4-FFF2-40B4-BE49-F238E27FC236}">
                <a16:creationId xmlns:a16="http://schemas.microsoft.com/office/drawing/2014/main" id="{3A393B36-BA6A-4244-ACD8-DC185D70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 dot product gives a fast similarity score.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448D3EAA-63AD-4D19-BA86-2D9FDA46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6">
            <a:extLst xmlns:a="http://schemas.openxmlformats.org/drawingml/2006/main">
              <a:ext uri="{FF2B5EF4-FFF2-40B4-BE49-F238E27FC236}">
                <a16:creationId xmlns:a16="http://schemas.microsoft.com/office/drawing/2014/main" id="{C8FDA4DF-FA9C-4A8D-9BDB-9C87D32D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ot-good-panel">
            <a:extLst xmlns:a="http://schemas.openxmlformats.org/drawingml/2006/main">
              <a:ext uri="{FF2B5EF4-FFF2-40B4-BE49-F238E27FC236}">
                <a16:creationId xmlns:a16="http://schemas.microsoft.com/office/drawing/2014/main" id="{575CEF68-6619-4572-AD15-1F6E26D0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4191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sp>
        <p:nvSpPr>
          <p:cNvPr id="6" name="dot-low-panel">
            <a:extLst xmlns:a="http://schemas.openxmlformats.org/drawingml/2006/main">
              <a:ext uri="{FF2B5EF4-FFF2-40B4-BE49-F238E27FC236}">
                <a16:creationId xmlns:a16="http://schemas.microsoft.com/office/drawing/2014/main" id="{5A810FCF-6BCB-4C13-A237-7FE4E6BE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209800"/>
            <a:ext cx="4191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dot-good-title">
            <a:extLst xmlns:a="http://schemas.openxmlformats.org/drawingml/2006/main">
              <a:ext uri="{FF2B5EF4-FFF2-40B4-BE49-F238E27FC236}">
                <a16:creationId xmlns:a16="http://schemas.microsoft.com/office/drawing/2014/main" id="{3754D084-0C9D-4E43-808F-15A935EF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same direction</a:t>
            </a:r>
          </a:p>
        </p:txBody>
      </p:sp>
      <p:sp>
        <p:nvSpPr>
          <p:cNvPr id="8" name="dot-low-title">
            <a:extLst xmlns:a="http://schemas.openxmlformats.org/drawingml/2006/main">
              <a:ext uri="{FF2B5EF4-FFF2-40B4-BE49-F238E27FC236}">
                <a16:creationId xmlns:a16="http://schemas.microsoft.com/office/drawing/2014/main" id="{FC6F1659-087A-4B1E-B3AF-44D2394E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different directions</a:t>
            </a:r>
          </a:p>
        </p:txBody>
      </p:sp>
      <p:sp>
        <p:nvSpPr>
          <p:cNvPr id="9" name="dot-good-a">
            <a:extLst xmlns:a="http://schemas.openxmlformats.org/drawingml/2006/main">
              <a:ext uri="{FF2B5EF4-FFF2-40B4-BE49-F238E27FC236}">
                <a16:creationId xmlns:a16="http://schemas.microsoft.com/office/drawing/2014/main" id="{88EA840D-36FF-4699-AD5D-A0ABAD10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81350"/>
            <a:ext cx="209550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F6FDB"/>
            </a:solidFill>
            <a:prstDash val="solid"/>
          </a:ln>
        </p:spPr>
      </p:sp>
      <p:sp>
        <p:nvSpPr>
          <p:cNvPr id="10" name="dot-good-b">
            <a:extLst xmlns:a="http://schemas.openxmlformats.org/drawingml/2006/main">
              <a:ext uri="{FF2B5EF4-FFF2-40B4-BE49-F238E27FC236}">
                <a16:creationId xmlns:a16="http://schemas.microsoft.com/office/drawing/2014/main" id="{AFF5DAC5-F126-4E2E-870A-F8C8BF38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81350"/>
            <a:ext cx="2400300" cy="1257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05A28"/>
            </a:solidFill>
            <a:prstDash val="solid"/>
          </a:ln>
        </p:spPr>
      </p:sp>
      <p:sp>
        <p:nvSpPr>
          <p:cNvPr id="11" name="dot-low-a">
            <a:extLst xmlns:a="http://schemas.openxmlformats.org/drawingml/2006/main">
              <a:ext uri="{FF2B5EF4-FFF2-40B4-BE49-F238E27FC236}">
                <a16:creationId xmlns:a16="http://schemas.microsoft.com/office/drawing/2014/main" id="{3CE53779-DC1A-42DD-A93A-95F4FC40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81350"/>
            <a:ext cx="211455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F6FDB"/>
            </a:solidFill>
            <a:prstDash val="solid"/>
          </a:ln>
        </p:spPr>
      </p:sp>
      <p:sp>
        <p:nvSpPr>
          <p:cNvPr id="12" name="dot-low-b">
            <a:extLst xmlns:a="http://schemas.openxmlformats.org/drawingml/2006/main">
              <a:ext uri="{FF2B5EF4-FFF2-40B4-BE49-F238E27FC236}">
                <a16:creationId xmlns:a16="http://schemas.microsoft.com/office/drawing/2014/main" id="{DB37E2F3-0832-4891-9B59-B87E92C6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81350"/>
            <a:ext cx="0" cy="137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05A28"/>
            </a:solidFill>
            <a:prstDash val="solid"/>
          </a:ln>
        </p:spPr>
      </p:sp>
      <p:sp>
        <p:nvSpPr>
          <p:cNvPr id="13" name="dot-good-origin">
            <a:extLst xmlns:a="http://schemas.openxmlformats.org/drawingml/2006/main">
              <a:ext uri="{FF2B5EF4-FFF2-40B4-BE49-F238E27FC236}">
                <a16:creationId xmlns:a16="http://schemas.microsoft.com/office/drawing/2014/main" id="{9DA237EA-903E-414D-9576-91C7147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05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ot-low-origin">
            <a:extLst xmlns:a="http://schemas.openxmlformats.org/drawingml/2006/main">
              <a:ext uri="{FF2B5EF4-FFF2-40B4-BE49-F238E27FC236}">
                <a16:creationId xmlns:a16="http://schemas.microsoft.com/office/drawing/2014/main" id="{D4E036E5-64BA-4BDA-865D-9DFF9E1F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ot-good-end-a">
            <a:extLst xmlns:a="http://schemas.openxmlformats.org/drawingml/2006/main">
              <a:ext uri="{FF2B5EF4-FFF2-40B4-BE49-F238E27FC236}">
                <a16:creationId xmlns:a16="http://schemas.microsoft.com/office/drawing/2014/main" id="{CD87AE87-E670-4F72-8338-1871D276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52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ot-good-end-b">
            <a:extLst xmlns:a="http://schemas.openxmlformats.org/drawingml/2006/main">
              <a:ext uri="{FF2B5EF4-FFF2-40B4-BE49-F238E27FC236}">
                <a16:creationId xmlns:a16="http://schemas.microsoft.com/office/drawing/2014/main" id="{A4D13566-8362-420F-8596-C9284402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62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ot-low-end-a">
            <a:extLst xmlns:a="http://schemas.openxmlformats.org/drawingml/2006/main">
              <a:ext uri="{FF2B5EF4-FFF2-40B4-BE49-F238E27FC236}">
                <a16:creationId xmlns:a16="http://schemas.microsoft.com/office/drawing/2014/main" id="{DC81C6D2-92E2-4796-9076-E00082D2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33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ot-low-end-b">
            <a:extLst xmlns:a="http://schemas.openxmlformats.org/drawingml/2006/main">
              <a:ext uri="{FF2B5EF4-FFF2-40B4-BE49-F238E27FC236}">
                <a16:creationId xmlns:a16="http://schemas.microsoft.com/office/drawing/2014/main" id="{A56DA250-65B2-4B15-AE67-70A5B403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76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ot-good-score">
            <a:extLst xmlns:a="http://schemas.openxmlformats.org/drawingml/2006/main">
              <a:ext uri="{FF2B5EF4-FFF2-40B4-BE49-F238E27FC236}">
                <a16:creationId xmlns:a16="http://schemas.microsoft.com/office/drawing/2014/main" id="{D62A1153-6A1C-4B7A-BF29-F22F36A1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large positive score</a:t>
            </a:r>
          </a:p>
        </p:txBody>
      </p:sp>
      <p:sp>
        <p:nvSpPr>
          <p:cNvPr id="20" name="dot-low-score">
            <a:extLst xmlns:a="http://schemas.openxmlformats.org/drawingml/2006/main">
              <a:ext uri="{FF2B5EF4-FFF2-40B4-BE49-F238E27FC236}">
                <a16:creationId xmlns:a16="http://schemas.microsoft.com/office/drawing/2014/main" id="{FC2A402A-3038-4FFA-B995-90B26315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00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small or negative score</a:t>
            </a:r>
          </a:p>
        </p:txBody>
      </p:sp>
      <p:sp>
        <p:nvSpPr>
          <p:cNvPr id="21" name="dot-eq">
            <a:extLst xmlns:a="http://schemas.openxmlformats.org/drawingml/2006/main">
              <a:ext uri="{FF2B5EF4-FFF2-40B4-BE49-F238E27FC236}">
                <a16:creationId xmlns:a16="http://schemas.microsoft.com/office/drawing/2014/main" id="{BD85BAD3-3706-4E87-B6B5-A8E21A4C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571750"/>
            <a:ext cx="167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dot product =</a:t>
            </a:r>
          </a:p>
          <a:p xmlns:a="http://schemas.openxmlformats.org/drawingml/2006/main">
            <a:pPr algn="ctr">
              <a:defRPr sz="21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add matching</a:t>
            </a:r>
          </a:p>
          <a:p xmlns:a="http://schemas.openxmlformats.org/drawingml/2006/main">
            <a:pPr algn="ctr">
              <a:defRPr sz="21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pieces</a:t>
            </a:r>
          </a:p>
        </p:txBody>
      </p:sp>
      <p:sp>
        <p:nvSpPr>
          <p:cNvPr id="22" name="dot-bridge">
            <a:extLst xmlns:a="http://schemas.openxmlformats.org/drawingml/2006/main">
              <a:ext uri="{FF2B5EF4-FFF2-40B4-BE49-F238E27FC236}">
                <a16:creationId xmlns:a16="http://schemas.microsoft.com/office/drawing/2014/main" id="{3326A4AE-526C-43C3-B79B-7AA8C1C4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9110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Attention repeats this comparison many times.</a:t>
            </a:r>
          </a:p>
        </p:txBody>
      </p:sp>
      <p:sp>
        <p:nvSpPr>
          <p:cNvPr id="2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479BD9A7-3B8F-4BB5-8344-2448D6E2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DADEB2DF-2A5D-42A9-A5A4-399A6846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18505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797BDB0D-8CAC-47DE-A397-D57C2411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Learning Moves the Points</a:t>
            </a:r>
          </a:p>
        </p:txBody>
      </p:sp>
      <p:sp>
        <p:nvSpPr>
          <p:cNvPr id="2" name="subtitle-7">
            <a:extLst xmlns:a="http://schemas.openxmlformats.org/drawingml/2006/main">
              <a:ext uri="{FF2B5EF4-FFF2-40B4-BE49-F238E27FC236}">
                <a16:creationId xmlns:a16="http://schemas.microsoft.com/office/drawing/2014/main" id="{DB207669-20D6-45EB-9AEF-BB23BD45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Gradient descent changes coordinates so error gets smaller.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D3D1917-AB7B-4907-A92C-85198F51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7">
            <a:extLst xmlns:a="http://schemas.openxmlformats.org/drawingml/2006/main">
              <a:ext uri="{FF2B5EF4-FFF2-40B4-BE49-F238E27FC236}">
                <a16:creationId xmlns:a16="http://schemas.microsoft.com/office/drawing/2014/main" id="{E1574AC0-DC11-4928-841C-ECBD51FA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ss-frame">
            <a:extLst xmlns:a="http://schemas.openxmlformats.org/drawingml/2006/main">
              <a:ext uri="{FF2B5EF4-FFF2-40B4-BE49-F238E27FC236}">
                <a16:creationId xmlns:a16="http://schemas.microsoft.com/office/drawing/2014/main" id="{11F0D3EE-9974-4189-9FC0-46FD7E1F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60960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6" name="loss-ring-0">
            <a:extLst xmlns:a="http://schemas.openxmlformats.org/drawingml/2006/main">
              <a:ext uri="{FF2B5EF4-FFF2-40B4-BE49-F238E27FC236}">
                <a16:creationId xmlns:a16="http://schemas.microsoft.com/office/drawing/2014/main" id="{83651D18-8E3B-478C-8AC0-2DE47098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19350"/>
            <a:ext cx="4191000" cy="2686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C4B8"/>
            </a:solidFill>
            <a:prstDash val="solid"/>
          </a:ln>
        </p:spPr>
      </p:sp>
      <p:sp>
        <p:nvSpPr>
          <p:cNvPr id="7" name="loss-ring-1">
            <a:extLst xmlns:a="http://schemas.openxmlformats.org/drawingml/2006/main">
              <a:ext uri="{FF2B5EF4-FFF2-40B4-BE49-F238E27FC236}">
                <a16:creationId xmlns:a16="http://schemas.microsoft.com/office/drawing/2014/main" id="{F1BC9E2E-451D-406E-95E7-026E4429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43200"/>
            <a:ext cx="3219450" cy="20383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6AA9B"/>
            </a:solidFill>
            <a:prstDash val="solid"/>
          </a:ln>
        </p:spPr>
      </p:sp>
      <p:sp>
        <p:nvSpPr>
          <p:cNvPr id="8" name="loss-ring-2">
            <a:extLst xmlns:a="http://schemas.openxmlformats.org/drawingml/2006/main">
              <a:ext uri="{FF2B5EF4-FFF2-40B4-BE49-F238E27FC236}">
                <a16:creationId xmlns:a16="http://schemas.microsoft.com/office/drawing/2014/main" id="{66D42130-BAD0-495D-A8C6-6E9F9B1E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05150"/>
            <a:ext cx="2095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58676"/>
            </a:solidFill>
            <a:prstDash val="solid"/>
          </a:ln>
        </p:spPr>
      </p:sp>
      <p:sp>
        <p:nvSpPr>
          <p:cNvPr id="9" name="loss-ring-3">
            <a:extLst xmlns:a="http://schemas.openxmlformats.org/drawingml/2006/main">
              <a:ext uri="{FF2B5EF4-FFF2-40B4-BE49-F238E27FC236}">
                <a16:creationId xmlns:a16="http://schemas.microsoft.com/office/drawing/2014/main" id="{E29C31F5-F233-47D8-B221-77767F1C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1047750" cy="685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05A28"/>
            </a:solidFill>
            <a:prstDash val="solid"/>
          </a:ln>
        </p:spPr>
      </p:sp>
      <p:sp>
        <p:nvSpPr>
          <p:cNvPr id="10" name="loss-step-0">
            <a:extLst xmlns:a="http://schemas.openxmlformats.org/drawingml/2006/main">
              <a:ext uri="{FF2B5EF4-FFF2-40B4-BE49-F238E27FC236}">
                <a16:creationId xmlns:a16="http://schemas.microsoft.com/office/drawing/2014/main" id="{EF5F202F-9C02-47E1-9386-313EECFC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781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ss-path-0">
            <a:extLst xmlns:a="http://schemas.openxmlformats.org/drawingml/2006/main">
              <a:ext uri="{FF2B5EF4-FFF2-40B4-BE49-F238E27FC236}">
                <a16:creationId xmlns:a16="http://schemas.microsoft.com/office/drawing/2014/main" id="{03F0B6BA-BB24-43D9-A455-B6BB2D99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57500"/>
            <a:ext cx="-5143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2" name="loss-step-1">
            <a:extLst xmlns:a="http://schemas.openxmlformats.org/drawingml/2006/main">
              <a:ext uri="{FF2B5EF4-FFF2-40B4-BE49-F238E27FC236}">
                <a16:creationId xmlns:a16="http://schemas.microsoft.com/office/drawing/2014/main" id="{CCBABA33-6572-4A97-994A-FC83EE46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8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oss-path-1">
            <a:extLst xmlns:a="http://schemas.openxmlformats.org/drawingml/2006/main">
              <a:ext uri="{FF2B5EF4-FFF2-40B4-BE49-F238E27FC236}">
                <a16:creationId xmlns:a16="http://schemas.microsoft.com/office/drawing/2014/main" id="{E2E0167D-4A75-43C5-A632-110CE429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62300"/>
            <a:ext cx="-43815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4" name="loss-step-2">
            <a:extLst xmlns:a="http://schemas.openxmlformats.org/drawingml/2006/main">
              <a:ext uri="{FF2B5EF4-FFF2-40B4-BE49-F238E27FC236}">
                <a16:creationId xmlns:a16="http://schemas.microsoft.com/office/drawing/2014/main" id="{39688E13-6C02-4D3C-8959-64CCFBC1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333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loss-path-2">
            <a:extLst xmlns:a="http://schemas.openxmlformats.org/drawingml/2006/main">
              <a:ext uri="{FF2B5EF4-FFF2-40B4-BE49-F238E27FC236}">
                <a16:creationId xmlns:a16="http://schemas.microsoft.com/office/drawing/2014/main" id="{76B5A036-D031-4AF3-BF1E-F5761350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-38100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6" name="loss-step-3">
            <a:extLst xmlns:a="http://schemas.openxmlformats.org/drawingml/2006/main">
              <a:ext uri="{FF2B5EF4-FFF2-40B4-BE49-F238E27FC236}">
                <a16:creationId xmlns:a16="http://schemas.microsoft.com/office/drawing/2014/main" id="{F60DD16A-D5E7-43B3-AE5A-E7AC9FA6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ss-path-3">
            <a:extLst xmlns:a="http://schemas.openxmlformats.org/drawingml/2006/main">
              <a:ext uri="{FF2B5EF4-FFF2-40B4-BE49-F238E27FC236}">
                <a16:creationId xmlns:a16="http://schemas.microsoft.com/office/drawing/2014/main" id="{3B468D1A-9518-42BD-9489-A71572E0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38550"/>
            <a:ext cx="-34290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8" name="loss-step-4">
            <a:extLst xmlns:a="http://schemas.openxmlformats.org/drawingml/2006/main">
              <a:ext uri="{FF2B5EF4-FFF2-40B4-BE49-F238E27FC236}">
                <a16:creationId xmlns:a16="http://schemas.microsoft.com/office/drawing/2014/main" id="{03F5DD99-E725-493A-88C8-BB8DAE12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71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loss-x">
            <a:extLst xmlns:a="http://schemas.openxmlformats.org/drawingml/2006/main">
              <a:ext uri="{FF2B5EF4-FFF2-40B4-BE49-F238E27FC236}">
                <a16:creationId xmlns:a16="http://schemas.microsoft.com/office/drawing/2014/main" id="{FB4057FB-28A7-44A8-AE38-81C78E46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467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parameter 1</a:t>
            </a:r>
          </a:p>
        </p:txBody>
      </p:sp>
      <p:sp>
        <p:nvSpPr>
          <p:cNvPr id="20" name="loss-y">
            <a:extLst xmlns:a="http://schemas.openxmlformats.org/drawingml/2006/main">
              <a:ext uri="{FF2B5EF4-FFF2-40B4-BE49-F238E27FC236}">
                <a16:creationId xmlns:a16="http://schemas.microsoft.com/office/drawing/2014/main" id="{7DB156C4-1927-417F-9B40-F31A8FFD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parameter 2</a:t>
            </a:r>
          </a:p>
        </p:txBody>
      </p:sp>
      <p:sp>
        <p:nvSpPr>
          <p:cNvPr id="21" name="learning-points">
            <a:extLst xmlns:a="http://schemas.openxmlformats.org/drawingml/2006/main">
              <a:ext uri="{FF2B5EF4-FFF2-40B4-BE49-F238E27FC236}">
                <a16:creationId xmlns:a16="http://schemas.microsoft.com/office/drawing/2014/main" id="{33D39DFE-B590-42AB-9D27-3258EAC1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71750"/>
            <a:ext cx="3429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Training changes parameters and embeddings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model is not just fitting a line. It is learning a coordinate system that makes the task easier.</a:t>
            </a:r>
          </a:p>
        </p:txBody>
      </p:sp>
      <p:sp>
        <p:nvSpPr>
          <p:cNvPr id="22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85F3EC81-2B6D-4D18-B197-6C53860E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C07CB7FD-F927-4A21-9158-A27F2D83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993301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8">
            <a:extLst xmlns:a="http://schemas.openxmlformats.org/drawingml/2006/main">
              <a:ext uri="{FF2B5EF4-FFF2-40B4-BE49-F238E27FC236}">
                <a16:creationId xmlns:a16="http://schemas.microsoft.com/office/drawing/2014/main" id="{28AE7202-5A28-4737-961E-91467AB6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Not Every Number Means Something</a:t>
            </a:r>
          </a:p>
        </p:txBody>
      </p:sp>
      <p:sp>
        <p:nvSpPr>
          <p:cNvPr id="2" name="subtitle-8">
            <a:extLst xmlns:a="http://schemas.openxmlformats.org/drawingml/2006/main">
              <a:ext uri="{FF2B5EF4-FFF2-40B4-BE49-F238E27FC236}">
                <a16:creationId xmlns:a16="http://schemas.microsoft.com/office/drawing/2014/main" id="{D22AAF4B-0C66-49B8-B515-C7ECA9AD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Some numerical encodings create fake structure.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DA6EA935-101F-4719-A219-2DF01901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8">
            <a:extLst xmlns:a="http://schemas.openxmlformats.org/drawingml/2006/main">
              <a:ext uri="{FF2B5EF4-FFF2-40B4-BE49-F238E27FC236}">
                <a16:creationId xmlns:a16="http://schemas.microsoft.com/office/drawing/2014/main" id="{9907EA12-0DE2-4204-8D6D-C4288758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bad-ids">
            <a:extLst xmlns:a="http://schemas.openxmlformats.org/drawingml/2006/main">
              <a:ext uri="{FF2B5EF4-FFF2-40B4-BE49-F238E27FC236}">
                <a16:creationId xmlns:a16="http://schemas.microsoft.com/office/drawing/2014/main" id="{A7E21403-DDFC-4D7C-B8AC-9F921046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red = 1</a:t>
            </a:r>
          </a:p>
          <a:p xmlns:a="http://schemas.openxmlformats.org/drawingml/2006/main">
            <a:pPr algn="l">
              <a:defRPr sz="25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blue = 2</a:t>
            </a:r>
          </a:p>
          <a:p xmlns:a="http://schemas.openxmlformats.org/drawingml/2006/main">
            <a:pPr algn="l">
              <a:defRPr sz="25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green = 3</a:t>
            </a:r>
          </a:p>
        </p:txBody>
      </p:sp>
      <p:sp>
        <p:nvSpPr>
          <p:cNvPr id="6" name="bad-math">
            <a:extLst xmlns:a="http://schemas.openxmlformats.org/drawingml/2006/main">
              <a:ext uri="{FF2B5EF4-FFF2-40B4-BE49-F238E27FC236}">
                <a16:creationId xmlns:a16="http://schemas.microsoft.com/office/drawing/2014/main" id="{2DAEB33D-D254-4717-9FA5-E1512A8C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90800"/>
            <a:ext cx="3429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B83B2E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B83B2E"/>
                </a:solidFill>
                <a:latin typeface="Aptos"/>
                <a:ea typeface="Aptos"/>
                <a:cs typeface="Aptos"/>
              </a:rPr>
              <a:t>This accidentally says:</a:t>
            </a:r>
          </a:p>
          <a:p xmlns:a="http://schemas.openxmlformats.org/drawingml/2006/main">
            <a:pPr algn="l">
              <a:defRPr sz="2175" b="0">
                <a:solidFill>
                  <a:srgbClr val="B83B2E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B83B2E"/>
                </a:solidFill>
                <a:latin typeface="Aptos"/>
                <a:ea typeface="Aptos"/>
                <a:cs typeface="Aptos"/>
              </a:rPr>
              <a:t>blue is twice red</a:t>
            </a:r>
          </a:p>
          <a:p xmlns:a="http://schemas.openxmlformats.org/drawingml/2006/main">
            <a:pPr algn="l">
              <a:defRPr sz="2175" b="0">
                <a:solidFill>
                  <a:srgbClr val="B83B2E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B83B2E"/>
                </a:solidFill>
                <a:latin typeface="Aptos"/>
                <a:ea typeface="Aptos"/>
                <a:cs typeface="Aptos"/>
              </a:rPr>
              <a:t>green is greater than blue</a:t>
            </a:r>
          </a:p>
        </p:txBody>
      </p:sp>
      <p:sp>
        <p:nvSpPr>
          <p:cNvPr id="7" name="wheel">
            <a:extLst xmlns:a="http://schemas.openxmlformats.org/drawingml/2006/main">
              <a:ext uri="{FF2B5EF4-FFF2-40B4-BE49-F238E27FC236}">
                <a16:creationId xmlns:a16="http://schemas.microsoft.com/office/drawing/2014/main" id="{F24BA050-368B-4D89-BFD1-D7148EDF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71750"/>
            <a:ext cx="2952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Feature choice matters too:</a:t>
            </a:r>
          </a:p>
          <a:p xmlns:a="http://schemas.openxmlformats.org/drawingml/2006/main">
            <a:pPr algn="l">
              <a:defRPr sz="19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most cars have 4 wheels, so wheel count carries almost no signal.</a:t>
            </a:r>
          </a:p>
        </p:txBody>
      </p:sp>
      <p:sp>
        <p:nvSpPr>
          <p:cNvPr id="8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BAF93C74-6D9C-4181-9276-7C604A26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946C781B-839F-4251-AAEF-E3CF7280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78457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9">
            <a:extLst xmlns:a="http://schemas.openxmlformats.org/drawingml/2006/main">
              <a:ext uri="{FF2B5EF4-FFF2-40B4-BE49-F238E27FC236}">
                <a16:creationId xmlns:a16="http://schemas.microsoft.com/office/drawing/2014/main" id="{A36E717E-9083-44A4-B56A-FB689122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Embeddings Are Learned Coordinates</a:t>
            </a:r>
          </a:p>
        </p:txBody>
      </p:sp>
      <p:sp>
        <p:nvSpPr>
          <p:cNvPr id="2" name="subtitle-9">
            <a:extLst xmlns:a="http://schemas.openxmlformats.org/drawingml/2006/main">
              <a:ext uri="{FF2B5EF4-FFF2-40B4-BE49-F238E27FC236}">
                <a16:creationId xmlns:a16="http://schemas.microsoft.com/office/drawing/2014/main" id="{51AD63FF-BE47-458E-A7A6-C00D8BCC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 category gets a trainable vector instead of a fake number.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664D482-47B0-4F2B-A29D-DB16AE2C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9">
            <a:extLst xmlns:a="http://schemas.openxmlformats.org/drawingml/2006/main">
              <a:ext uri="{FF2B5EF4-FFF2-40B4-BE49-F238E27FC236}">
                <a16:creationId xmlns:a16="http://schemas.microsoft.com/office/drawing/2014/main" id="{4247732C-B068-4957-9883-D90E3E57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id-box">
            <a:extLst xmlns:a="http://schemas.openxmlformats.org/drawingml/2006/main">
              <a:ext uri="{FF2B5EF4-FFF2-40B4-BE49-F238E27FC236}">
                <a16:creationId xmlns:a16="http://schemas.microsoft.com/office/drawing/2014/main" id="{BFFB6A09-5A3A-48A3-877E-0110A1B4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3B2E"/>
            </a:solidFill>
            <a:prstDash val="solid"/>
          </a:ln>
        </p:spPr>
      </p:sp>
      <p:sp>
        <p:nvSpPr>
          <p:cNvPr id="6" name="id-text">
            <a:extLst xmlns:a="http://schemas.openxmlformats.org/drawingml/2006/main">
              <a:ext uri="{FF2B5EF4-FFF2-40B4-BE49-F238E27FC236}">
                <a16:creationId xmlns:a16="http://schemas.microsoft.com/office/drawing/2014/main" id="{19C40C65-761E-4FB3-8DA5-A07367A8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813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integer ID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compact, fake order</a:t>
            </a:r>
          </a:p>
        </p:txBody>
      </p:sp>
      <p:sp>
        <p:nvSpPr>
          <p:cNvPr id="7" name="hot-box">
            <a:extLst xmlns:a="http://schemas.openxmlformats.org/drawingml/2006/main">
              <a:ext uri="{FF2B5EF4-FFF2-40B4-BE49-F238E27FC236}">
                <a16:creationId xmlns:a16="http://schemas.microsoft.com/office/drawing/2014/main" id="{E90790D3-4B46-4841-A28F-6091240C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813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CA62B"/>
            </a:solidFill>
            <a:prstDash val="solid"/>
          </a:ln>
        </p:spPr>
      </p:sp>
      <p:sp>
        <p:nvSpPr>
          <p:cNvPr id="8" name="hot-text">
            <a:extLst xmlns:a="http://schemas.openxmlformats.org/drawingml/2006/main">
              <a:ext uri="{FF2B5EF4-FFF2-40B4-BE49-F238E27FC236}">
                <a16:creationId xmlns:a16="http://schemas.microsoft.com/office/drawing/2014/main" id="{1F0AD511-4595-4F40-BDE5-BC3A26EC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813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one-hot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honest, sparse</a:t>
            </a:r>
          </a:p>
        </p:txBody>
      </p:sp>
      <p:sp>
        <p:nvSpPr>
          <p:cNvPr id="9" name="emb-box">
            <a:extLst xmlns:a="http://schemas.openxmlformats.org/drawingml/2006/main">
              <a:ext uri="{FF2B5EF4-FFF2-40B4-BE49-F238E27FC236}">
                <a16:creationId xmlns:a16="http://schemas.microsoft.com/office/drawing/2014/main" id="{0B3D12A2-73F8-4736-A774-64B098BA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813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sp>
        <p:nvSpPr>
          <p:cNvPr id="10" name="emb-text">
            <a:extLst xmlns:a="http://schemas.openxmlformats.org/drawingml/2006/main">
              <a:ext uri="{FF2B5EF4-FFF2-40B4-BE49-F238E27FC236}">
                <a16:creationId xmlns:a16="http://schemas.microsoft.com/office/drawing/2014/main" id="{9C2E38AF-379D-4745-A98F-C1EA48D0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813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embedding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compact, trainable</a:t>
            </a:r>
          </a:p>
        </p:txBody>
      </p:sp>
      <p:sp>
        <p:nvSpPr>
          <p:cNvPr id="11" name="enc-a">
            <a:extLst xmlns:a="http://schemas.openxmlformats.org/drawingml/2006/main">
              <a:ext uri="{FF2B5EF4-FFF2-40B4-BE49-F238E27FC236}">
                <a16:creationId xmlns:a16="http://schemas.microsoft.com/office/drawing/2014/main" id="{A670B25C-EB54-4773-9187-2A926347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83B2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83B2E"/>
                </a:solidFill>
                <a:latin typeface="Aptos"/>
                <a:ea typeface="Aptos"/>
                <a:cs typeface="Aptos"/>
              </a:rPr>
              <a:t>[7]</a:t>
            </a:r>
          </a:p>
        </p:txBody>
      </p:sp>
      <p:sp>
        <p:nvSpPr>
          <p:cNvPr id="12" name="enc-b">
            <a:extLst xmlns:a="http://schemas.openxmlformats.org/drawingml/2006/main">
              <a:ext uri="{FF2B5EF4-FFF2-40B4-BE49-F238E27FC236}">
                <a16:creationId xmlns:a16="http://schemas.microsoft.com/office/drawing/2014/main" id="{904BB811-BCC8-44C3-B6ED-3F080E8A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053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[0, 0, 1, 0, ...]</a:t>
            </a:r>
          </a:p>
        </p:txBody>
      </p:sp>
      <p:sp>
        <p:nvSpPr>
          <p:cNvPr id="13" name="enc-c">
            <a:extLst xmlns:a="http://schemas.openxmlformats.org/drawingml/2006/main">
              <a:ext uri="{FF2B5EF4-FFF2-40B4-BE49-F238E27FC236}">
                <a16:creationId xmlns:a16="http://schemas.microsoft.com/office/drawing/2014/main" id="{650BA395-E0FC-45F9-80DF-2117F56D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[0.2, -1.4, 0.7, ...]</a:t>
            </a:r>
          </a:p>
        </p:txBody>
      </p: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19450" y="3352800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277100" y="3352800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6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8BD0FB8E-0C32-4A89-B3A3-B6FB8AAF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CF4FEBBE-5B41-4CC8-A512-8DE22154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63847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0">
            <a:extLst xmlns:a="http://schemas.openxmlformats.org/drawingml/2006/main">
              <a:ext uri="{FF2B5EF4-FFF2-40B4-BE49-F238E27FC236}">
                <a16:creationId xmlns:a16="http://schemas.microsoft.com/office/drawing/2014/main" id="{F9DD4668-6F2A-4F40-BE10-2E9C03BC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Car Example: Structure, Not a Scoreboard</a:t>
            </a:r>
          </a:p>
        </p:txBody>
      </p:sp>
      <p:sp>
        <p:nvSpPr>
          <p:cNvPr id="2" name="subtitle-10">
            <a:extLst xmlns:a="http://schemas.openxmlformats.org/drawingml/2006/main">
              <a:ext uri="{FF2B5EF4-FFF2-40B4-BE49-F238E27FC236}">
                <a16:creationId xmlns:a16="http://schemas.microsoft.com/office/drawing/2014/main" id="{FAB947EC-8075-42DD-8E97-59CF90E7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Used car prices give a familiar place to test representation choices.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14852C1-BD4F-4DF6-9DB6-B571908A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0">
            <a:extLst xmlns:a="http://schemas.openxmlformats.org/drawingml/2006/main">
              <a:ext uri="{FF2B5EF4-FFF2-40B4-BE49-F238E27FC236}">
                <a16:creationId xmlns:a16="http://schemas.microsoft.com/office/drawing/2014/main" id="{F8A523E5-2441-4D1B-A0DE-5F75CC27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ows-card">
            <a:extLst xmlns:a="http://schemas.openxmlformats.org/drawingml/2006/main">
              <a:ext uri="{FF2B5EF4-FFF2-40B4-BE49-F238E27FC236}">
                <a16:creationId xmlns:a16="http://schemas.microsoft.com/office/drawing/2014/main" id="{94F5293C-74F7-4046-B5ED-DEDA28E9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22669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6" name="rows-value">
            <a:extLst xmlns:a="http://schemas.openxmlformats.org/drawingml/2006/main">
              <a:ext uri="{FF2B5EF4-FFF2-40B4-BE49-F238E27FC236}">
                <a16:creationId xmlns:a16="http://schemas.microsoft.com/office/drawing/2014/main" id="{9692465E-33FA-4D04-97AE-C0D5FE8E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25,000</a:t>
            </a:r>
          </a:p>
        </p:txBody>
      </p:sp>
      <p:sp>
        <p:nvSpPr>
          <p:cNvPr id="7" name="rows-label">
            <a:extLst xmlns:a="http://schemas.openxmlformats.org/drawingml/2006/main">
              <a:ext uri="{FF2B5EF4-FFF2-40B4-BE49-F238E27FC236}">
                <a16:creationId xmlns:a16="http://schemas.microsoft.com/office/drawing/2014/main" id="{A8E88043-6519-4470-95DF-D6900F2E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examples</a:t>
            </a:r>
          </a:p>
        </p:txBody>
      </p:sp>
      <p:sp>
        <p:nvSpPr>
          <p:cNvPr id="8" name="rows-detail">
            <a:extLst xmlns:a="http://schemas.openxmlformats.org/drawingml/2006/main">
              <a:ext uri="{FF2B5EF4-FFF2-40B4-BE49-F238E27FC236}">
                <a16:creationId xmlns:a16="http://schemas.microsoft.com/office/drawing/2014/main" id="{09340909-12D9-41F1-AF1D-43FEE049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used car listings</a:t>
            </a:r>
          </a:p>
        </p:txBody>
      </p:sp>
      <p:sp>
        <p:nvSpPr>
          <p:cNvPr id="9" name="split-card">
            <a:extLst xmlns:a="http://schemas.openxmlformats.org/drawingml/2006/main">
              <a:ext uri="{FF2B5EF4-FFF2-40B4-BE49-F238E27FC236}">
                <a16:creationId xmlns:a16="http://schemas.microsoft.com/office/drawing/2014/main" id="{01C92B82-D870-445B-89C3-EF87AF8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22669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split-value">
            <a:extLst xmlns:a="http://schemas.openxmlformats.org/drawingml/2006/main">
              <a:ext uri="{FF2B5EF4-FFF2-40B4-BE49-F238E27FC236}">
                <a16:creationId xmlns:a16="http://schemas.microsoft.com/office/drawing/2014/main" id="{C115B00A-A96F-4CD3-A576-BF41F328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098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70 / 15 / 15</a:t>
            </a:r>
          </a:p>
        </p:txBody>
      </p:sp>
      <p:sp>
        <p:nvSpPr>
          <p:cNvPr id="11" name="split-label">
            <a:extLst xmlns:a="http://schemas.openxmlformats.org/drawingml/2006/main">
              <a:ext uri="{FF2B5EF4-FFF2-40B4-BE49-F238E27FC236}">
                <a16:creationId xmlns:a16="http://schemas.microsoft.com/office/drawing/2014/main" id="{1BBA784A-44A9-4B94-9F81-BA7453B2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86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split</a:t>
            </a:r>
          </a:p>
        </p:txBody>
      </p:sp>
      <p:sp>
        <p:nvSpPr>
          <p:cNvPr id="12" name="split-detail">
            <a:extLst xmlns:a="http://schemas.openxmlformats.org/drawingml/2006/main">
              <a:ext uri="{FF2B5EF4-FFF2-40B4-BE49-F238E27FC236}">
                <a16:creationId xmlns:a16="http://schemas.microsoft.com/office/drawing/2014/main" id="{23D1770C-E25A-45B2-9877-841C6426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3718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train / validation / test</a:t>
            </a:r>
          </a:p>
        </p:txBody>
      </p:sp>
      <p:sp>
        <p:nvSpPr>
          <p:cNvPr id="13" name="seeds-card">
            <a:extLst xmlns:a="http://schemas.openxmlformats.org/drawingml/2006/main">
              <a:ext uri="{FF2B5EF4-FFF2-40B4-BE49-F238E27FC236}">
                <a16:creationId xmlns:a16="http://schemas.microsoft.com/office/drawing/2014/main" id="{CA80F716-7F93-4BED-BC1D-D73C1915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22669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4" name="seeds-value">
            <a:extLst xmlns:a="http://schemas.openxmlformats.org/drawingml/2006/main">
              <a:ext uri="{FF2B5EF4-FFF2-40B4-BE49-F238E27FC236}">
                <a16:creationId xmlns:a16="http://schemas.microsoft.com/office/drawing/2014/main" id="{47320A9D-4E47-4AEB-9893-4CEF2C73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098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5 seeds</a:t>
            </a:r>
          </a:p>
        </p:txBody>
      </p:sp>
      <p:sp>
        <p:nvSpPr>
          <p:cNvPr id="15" name="seeds-label">
            <a:extLst xmlns:a="http://schemas.openxmlformats.org/drawingml/2006/main">
              <a:ext uri="{FF2B5EF4-FFF2-40B4-BE49-F238E27FC236}">
                <a16:creationId xmlns:a16="http://schemas.microsoft.com/office/drawing/2014/main" id="{C658A7DE-5DEF-4005-92A3-2E4E4DDD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86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repeatability</a:t>
            </a:r>
          </a:p>
        </p:txBody>
      </p:sp>
      <p:sp>
        <p:nvSpPr>
          <p:cNvPr id="16" name="seeds-detail">
            <a:extLst xmlns:a="http://schemas.openxmlformats.org/drawingml/2006/main">
              <a:ext uri="{FF2B5EF4-FFF2-40B4-BE49-F238E27FC236}">
                <a16:creationId xmlns:a16="http://schemas.microsoft.com/office/drawing/2014/main" id="{422EF99D-CA0C-4954-9C38-278F4BE1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718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same held-out test split</a:t>
            </a:r>
          </a:p>
        </p:txBody>
      </p:sp>
      <p:sp>
        <p:nvSpPr>
          <p:cNvPr id="17" name="cats-card">
            <a:extLst xmlns:a="http://schemas.openxmlformats.org/drawingml/2006/main">
              <a:ext uri="{FF2B5EF4-FFF2-40B4-BE49-F238E27FC236}">
                <a16:creationId xmlns:a16="http://schemas.microsoft.com/office/drawing/2014/main" id="{3A6108BA-668A-4AC7-8371-9A1D63A0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19350"/>
            <a:ext cx="22669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8" name="cats-value">
            <a:extLst xmlns:a="http://schemas.openxmlformats.org/drawingml/2006/main">
              <a:ext uri="{FF2B5EF4-FFF2-40B4-BE49-F238E27FC236}">
                <a16:creationId xmlns:a16="http://schemas.microsoft.com/office/drawing/2014/main" id="{09D08F12-1A59-47B7-8301-799A66E1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98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9" name="cats-label">
            <a:extLst xmlns:a="http://schemas.openxmlformats.org/drawingml/2006/main">
              <a:ext uri="{FF2B5EF4-FFF2-40B4-BE49-F238E27FC236}">
                <a16:creationId xmlns:a16="http://schemas.microsoft.com/office/drawing/2014/main" id="{92C0F957-47F6-44A9-880E-81313F82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86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categories</a:t>
            </a:r>
          </a:p>
        </p:txBody>
      </p:sp>
      <p:sp>
        <p:nvSpPr>
          <p:cNvPr id="20" name="cats-detail">
            <a:extLst xmlns:a="http://schemas.openxmlformats.org/drawingml/2006/main">
              <a:ext uri="{FF2B5EF4-FFF2-40B4-BE49-F238E27FC236}">
                <a16:creationId xmlns:a16="http://schemas.microsoft.com/office/drawing/2014/main" id="{435A49B8-89EC-40AC-8EA3-AEB58F30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718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make, model, color, trim...</a:t>
            </a:r>
          </a:p>
        </p:txBody>
      </p:sp>
      <p:sp>
        <p:nvSpPr>
          <p:cNvPr id="21" name="case-framing">
            <a:extLst xmlns:a="http://schemas.openxmlformats.org/drawingml/2006/main">
              <a:ext uri="{FF2B5EF4-FFF2-40B4-BE49-F238E27FC236}">
                <a16:creationId xmlns:a16="http://schemas.microsoft.com/office/drawing/2014/main" id="{061E806D-6B0E-47D7-8C6F-C4059974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5300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question is not whether one small neural net wins forever. The question is how representation changes what the model can learn.</a:t>
            </a:r>
          </a:p>
        </p:txBody>
      </p:sp>
      <p:sp>
        <p:nvSpPr>
          <p:cNvPr id="22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577200E6-8D1C-4548-BE7F-14E45102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Dataset: gsv24/car-price</a:t>
            </a:r>
          </a:p>
        </p:txBody>
      </p:sp>
      <p:sp>
        <p:nvSpPr>
          <p:cNvPr id="23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037DD531-C4F5-444C-8F2B-175C210E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60804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1">
            <a:extLst xmlns:a="http://schemas.openxmlformats.org/drawingml/2006/main">
              <a:ext uri="{FF2B5EF4-FFF2-40B4-BE49-F238E27FC236}">
                <a16:creationId xmlns:a16="http://schemas.microsoft.com/office/drawing/2014/main" id="{D75B9966-A4F9-486C-BC0C-EED7C1A4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Bad Representations Can Break a Model</a:t>
            </a:r>
          </a:p>
        </p:txBody>
      </p:sp>
      <p:sp>
        <p:nvSpPr>
          <p:cNvPr id="2" name="subtitle-11">
            <a:extLst xmlns:a="http://schemas.openxmlformats.org/drawingml/2006/main">
              <a:ext uri="{FF2B5EF4-FFF2-40B4-BE49-F238E27FC236}">
                <a16:creationId xmlns:a16="http://schemas.microsoft.com/office/drawing/2014/main" id="{853B0116-856E-4851-9233-FE275CF3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strongest lesson is the gap between fake order and useful coordinates.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84C6300-04E4-42CB-969F-7BA80FE6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1">
            <a:extLst xmlns:a="http://schemas.openxmlformats.org/drawingml/2006/main">
              <a:ext uri="{FF2B5EF4-FFF2-40B4-BE49-F238E27FC236}">
                <a16:creationId xmlns:a16="http://schemas.microsoft.com/office/drawing/2014/main" id="{299E4C7A-64D3-44B5-A8F1-EFE52BC8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742950" y="238125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e1de17de3e4627"/>
          </a:graphicData>
        </a:graphic>
      </p:graphicFrame>
      <p:sp>
        <p:nvSpPr>
          <p:cNvPr id="6" name="metric-table">
            <a:extLst xmlns:a="http://schemas.openxmlformats.org/drawingml/2006/main">
              <a:ext uri="{FF2B5EF4-FFF2-40B4-BE49-F238E27FC236}">
                <a16:creationId xmlns:a16="http://schemas.microsoft.com/office/drawing/2014/main" id="{FBF0B89D-99F5-44A4-81B4-A957FDA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47900"/>
            <a:ext cx="4667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Encoding           RMSE        MAE        R2</a:t>
            </a:r>
          </a:p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Integer IDs     $43,808   $21,422   &lt; 0</a:t>
            </a:r>
          </a:p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One-hot           $1,611     $1,049   0.76</a:t>
            </a:r>
          </a:p>
          <a:p xmlns:a="http://schemas.openxmlformats.org/drawingml/2006/main">
            <a:pPr algn="l">
              <a:defRPr sz="157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Embeddings     $1,535     $1,185   0.78</a:t>
            </a:r>
          </a:p>
        </p:txBody>
      </p:sp>
      <p:sp>
        <p:nvSpPr>
          <p:cNvPr id="7" name="metric-interpretation">
            <a:extLst xmlns:a="http://schemas.openxmlformats.org/drawingml/2006/main">
              <a:ext uri="{FF2B5EF4-FFF2-40B4-BE49-F238E27FC236}">
                <a16:creationId xmlns:a16="http://schemas.microsoft.com/office/drawing/2014/main" id="{EB20D1A1-C67A-4237-AF6B-3E0FA5C2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0050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Embeddings had 4.7% lower full-test RMSE than one-hot, but 13.0% higher MAE.</a:t>
            </a:r>
          </a:p>
        </p:txBody>
      </p:sp>
      <p:sp>
        <p:nvSpPr>
          <p:cNvPr id="8" name="seed-wins">
            <a:extLst xmlns:a="http://schemas.openxmlformats.org/drawingml/2006/main">
              <a:ext uri="{FF2B5EF4-FFF2-40B4-BE49-F238E27FC236}">
                <a16:creationId xmlns:a16="http://schemas.microsoft.com/office/drawing/2014/main" id="{1D3A3E35-B076-40B0-999D-97BAEF6F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863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Seed wins vs one-hot: RMSE 3/5, MAE 2/5, R2 3/5</a:t>
            </a:r>
          </a:p>
        </p:txBody>
      </p:sp>
      <p:sp>
        <p:nvSpPr>
          <p:cNvPr id="9" name="sample-bars-title">
            <a:extLst xmlns:a="http://schemas.openxmlformats.org/drawingml/2006/main">
              <a:ext uri="{FF2B5EF4-FFF2-40B4-BE49-F238E27FC236}">
                <a16:creationId xmlns:a16="http://schemas.microsoft.com/office/drawing/2014/main" id="{20C63A27-01A9-4415-BFE1-D4DEAB4E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673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Stored prediction sample within $5k</a:t>
            </a:r>
          </a:p>
        </p:txBody>
      </p:sp>
      <p:sp>
        <p:nvSpPr>
          <p:cNvPr id="10" name="sample-int-label">
            <a:extLst xmlns:a="http://schemas.openxmlformats.org/drawingml/2006/main">
              <a:ext uri="{FF2B5EF4-FFF2-40B4-BE49-F238E27FC236}">
                <a16:creationId xmlns:a16="http://schemas.microsoft.com/office/drawing/2014/main" id="{BDBF7CD2-B47E-422C-BB11-C5760B94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91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Integer</a:t>
            </a:r>
          </a:p>
        </p:txBody>
      </p:sp>
      <p:sp>
        <p:nvSpPr>
          <p:cNvPr id="11" name="sample-int-rail">
            <a:extLst xmlns:a="http://schemas.openxmlformats.org/drawingml/2006/main">
              <a:ext uri="{FF2B5EF4-FFF2-40B4-BE49-F238E27FC236}">
                <a16:creationId xmlns:a16="http://schemas.microsoft.com/office/drawing/2014/main" id="{E40328D7-ACBF-4F4E-8B8D-1F3C99D2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419725"/>
            <a:ext cx="2209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ample-int-bar">
            <a:extLst xmlns:a="http://schemas.openxmlformats.org/drawingml/2006/main">
              <a:ext uri="{FF2B5EF4-FFF2-40B4-BE49-F238E27FC236}">
                <a16:creationId xmlns:a16="http://schemas.microsoft.com/office/drawing/2014/main" id="{A9E5D593-15D4-40C0-95C3-128B6B4F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419725"/>
            <a:ext cx="411907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ample-int-value">
            <a:extLst xmlns:a="http://schemas.openxmlformats.org/drawingml/2006/main">
              <a:ext uri="{FF2B5EF4-FFF2-40B4-BE49-F238E27FC236}">
                <a16:creationId xmlns:a16="http://schemas.microsoft.com/office/drawing/2014/main" id="{609C1FA4-394C-472E-AAC9-61C9D724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8162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B83B2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3B2E"/>
                </a:solidFill>
                <a:latin typeface="Aptos"/>
                <a:ea typeface="Aptos"/>
                <a:cs typeface="Aptos"/>
              </a:rPr>
              <a:t>19%</a:t>
            </a:r>
          </a:p>
        </p:txBody>
      </p:sp>
      <p:sp>
        <p:nvSpPr>
          <p:cNvPr id="14" name="sample-onehot-label">
            <a:extLst xmlns:a="http://schemas.openxmlformats.org/drawingml/2006/main">
              <a:ext uri="{FF2B5EF4-FFF2-40B4-BE49-F238E27FC236}">
                <a16:creationId xmlns:a16="http://schemas.microsoft.com/office/drawing/2014/main" id="{44F27DA0-1323-445F-A50F-2C519AD1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6197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One-hot</a:t>
            </a:r>
          </a:p>
        </p:txBody>
      </p:sp>
      <p:sp>
        <p:nvSpPr>
          <p:cNvPr id="15" name="sample-onehot-rail">
            <a:extLst xmlns:a="http://schemas.openxmlformats.org/drawingml/2006/main">
              <a:ext uri="{FF2B5EF4-FFF2-40B4-BE49-F238E27FC236}">
                <a16:creationId xmlns:a16="http://schemas.microsoft.com/office/drawing/2014/main" id="{E0185EAE-A746-47AE-AD1D-FAFED20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48325"/>
            <a:ext cx="2209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ample-onehot-bar">
            <a:extLst xmlns:a="http://schemas.openxmlformats.org/drawingml/2006/main">
              <a:ext uri="{FF2B5EF4-FFF2-40B4-BE49-F238E27FC236}">
                <a16:creationId xmlns:a16="http://schemas.microsoft.com/office/drawing/2014/main" id="{82A8F8A5-3899-4C4D-B4E0-7CBD1363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48325"/>
            <a:ext cx="216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ample-onehot-value">
            <a:extLst xmlns:a="http://schemas.openxmlformats.org/drawingml/2006/main">
              <a:ext uri="{FF2B5EF4-FFF2-40B4-BE49-F238E27FC236}">
                <a16:creationId xmlns:a16="http://schemas.microsoft.com/office/drawing/2014/main" id="{F95AD140-31D1-4AC0-88C8-18A092DE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61022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98%</a:t>
            </a:r>
          </a:p>
        </p:txBody>
      </p:sp>
      <p:sp>
        <p:nvSpPr>
          <p:cNvPr id="18" name="sample-embed-label">
            <a:extLst xmlns:a="http://schemas.openxmlformats.org/drawingml/2006/main">
              <a:ext uri="{FF2B5EF4-FFF2-40B4-BE49-F238E27FC236}">
                <a16:creationId xmlns:a16="http://schemas.microsoft.com/office/drawing/2014/main" id="{105854EE-515B-4D76-AFC3-5F769A26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8483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Embedding</a:t>
            </a:r>
          </a:p>
        </p:txBody>
      </p:sp>
      <p:sp>
        <p:nvSpPr>
          <p:cNvPr id="19" name="sample-embed-rail">
            <a:extLst xmlns:a="http://schemas.openxmlformats.org/drawingml/2006/main">
              <a:ext uri="{FF2B5EF4-FFF2-40B4-BE49-F238E27FC236}">
                <a16:creationId xmlns:a16="http://schemas.microsoft.com/office/drawing/2014/main" id="{4C5B6218-F9D5-4ED5-99CD-4C6AEB28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876925"/>
            <a:ext cx="2209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ample-embed-bar">
            <a:extLst xmlns:a="http://schemas.openxmlformats.org/drawingml/2006/main">
              <a:ext uri="{FF2B5EF4-FFF2-40B4-BE49-F238E27FC236}">
                <a16:creationId xmlns:a16="http://schemas.microsoft.com/office/drawing/2014/main" id="{85E9CDB5-3CE4-4236-A0BC-FB29AE0F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876925"/>
            <a:ext cx="218328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ample-embed-value">
            <a:extLst xmlns:a="http://schemas.openxmlformats.org/drawingml/2006/main">
              <a:ext uri="{FF2B5EF4-FFF2-40B4-BE49-F238E27FC236}">
                <a16:creationId xmlns:a16="http://schemas.microsoft.com/office/drawing/2014/main" id="{B2E21B09-3B1A-4F90-82BA-4C92FD73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83882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99%</a:t>
            </a:r>
          </a:p>
        </p:txBody>
      </p:sp>
      <p:sp>
        <p:nvSpPr>
          <p:cNvPr id="22" name="footer-source-11">
            <a:extLst xmlns:a="http://schemas.openxmlformats.org/drawingml/2006/main">
              <a:ext uri="{FF2B5EF4-FFF2-40B4-BE49-F238E27FC236}">
                <a16:creationId xmlns:a16="http://schemas.microsoft.com/office/drawing/2014/main" id="{D13B00EC-4FE2-43F6-A7C1-78EF5105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Metrics: mean over 5 PyTorch runs on held-out test rows</a:t>
            </a:r>
          </a:p>
        </p:txBody>
      </p:sp>
      <p:sp>
        <p:nvSpPr>
          <p:cNvPr id="23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5FF35382-AE57-4B3A-902B-DF35F475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236204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2">
            <a:extLst xmlns:a="http://schemas.openxmlformats.org/drawingml/2006/main">
              <a:ext uri="{FF2B5EF4-FFF2-40B4-BE49-F238E27FC236}">
                <a16:creationId xmlns:a16="http://schemas.microsoft.com/office/drawing/2014/main" id="{A9B16BFE-98CB-4A60-8F03-B9D9369D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 Learned Map Is the Payoff</a:t>
            </a:r>
          </a:p>
        </p:txBody>
      </p:sp>
      <p:sp>
        <p:nvSpPr>
          <p:cNvPr id="2" name="subtitle-12">
            <a:extLst xmlns:a="http://schemas.openxmlformats.org/drawingml/2006/main">
              <a:ext uri="{FF2B5EF4-FFF2-40B4-BE49-F238E27FC236}">
                <a16:creationId xmlns:a16="http://schemas.microsoft.com/office/drawing/2014/main" id="{B97D9E86-29F9-451A-A43E-58040765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embedding table becomes geometry the model can use.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F438079-1FE3-4E9B-8803-EE9E36EE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2">
            <a:extLst xmlns:a="http://schemas.openxmlformats.org/drawingml/2006/main">
              <a:ext uri="{FF2B5EF4-FFF2-40B4-BE49-F238E27FC236}">
                <a16:creationId xmlns:a16="http://schemas.microsoft.com/office/drawing/2014/main" id="{511D589D-9A15-49F0-BD94-ECEC535C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p-frame">
            <a:extLst xmlns:a="http://schemas.openxmlformats.org/drawingml/2006/main">
              <a:ext uri="{FF2B5EF4-FFF2-40B4-BE49-F238E27FC236}">
                <a16:creationId xmlns:a16="http://schemas.microsoft.com/office/drawing/2014/main" id="{40BE4655-913B-4AB6-9051-F63EAE50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6191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6" name="map-0">
            <a:extLst xmlns:a="http://schemas.openxmlformats.org/drawingml/2006/main">
              <a:ext uri="{FF2B5EF4-FFF2-40B4-BE49-F238E27FC236}">
                <a16:creationId xmlns:a16="http://schemas.microsoft.com/office/drawing/2014/main" id="{5011ED7A-07C6-4ACE-8666-151FB455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ap-label-0">
            <a:extLst xmlns:a="http://schemas.openxmlformats.org/drawingml/2006/main">
              <a:ext uri="{FF2B5EF4-FFF2-40B4-BE49-F238E27FC236}">
                <a16:creationId xmlns:a16="http://schemas.microsoft.com/office/drawing/2014/main" id="{1104B3E5-566D-43B5-B97B-0EB65EDB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289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lexus</a:t>
            </a:r>
          </a:p>
        </p:txBody>
      </p:sp>
      <p:sp>
        <p:nvSpPr>
          <p:cNvPr id="8" name="map-1">
            <a:extLst xmlns:a="http://schemas.openxmlformats.org/drawingml/2006/main">
              <a:ext uri="{FF2B5EF4-FFF2-40B4-BE49-F238E27FC236}">
                <a16:creationId xmlns:a16="http://schemas.microsoft.com/office/drawing/2014/main" id="{86EA39E4-9A0D-4550-82BB-2D7286B8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ap-label-1">
            <a:extLst xmlns:a="http://schemas.openxmlformats.org/drawingml/2006/main">
              <a:ext uri="{FF2B5EF4-FFF2-40B4-BE49-F238E27FC236}">
                <a16:creationId xmlns:a16="http://schemas.microsoft.com/office/drawing/2014/main" id="{F1213F67-E338-4FB9-A2C9-E8AD84F2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003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acura</a:t>
            </a:r>
          </a:p>
        </p:txBody>
      </p:sp>
      <p:sp>
        <p:nvSpPr>
          <p:cNvPr id="10" name="map-2">
            <a:extLst xmlns:a="http://schemas.openxmlformats.org/drawingml/2006/main">
              <a:ext uri="{FF2B5EF4-FFF2-40B4-BE49-F238E27FC236}">
                <a16:creationId xmlns:a16="http://schemas.microsoft.com/office/drawing/2014/main" id="{FC638C45-7146-4020-8B4B-FDC8406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ap-label-2">
            <a:extLst xmlns:a="http://schemas.openxmlformats.org/drawingml/2006/main">
              <a:ext uri="{FF2B5EF4-FFF2-40B4-BE49-F238E27FC236}">
                <a16:creationId xmlns:a16="http://schemas.microsoft.com/office/drawing/2014/main" id="{79BE955A-9EE9-42D7-A2A1-1A6A1A52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478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cadillac</a:t>
            </a:r>
          </a:p>
        </p:txBody>
      </p:sp>
      <p:sp>
        <p:nvSpPr>
          <p:cNvPr id="12" name="map-3">
            <a:extLst xmlns:a="http://schemas.openxmlformats.org/drawingml/2006/main">
              <a:ext uri="{FF2B5EF4-FFF2-40B4-BE49-F238E27FC236}">
                <a16:creationId xmlns:a16="http://schemas.microsoft.com/office/drawing/2014/main" id="{3CF00A67-67A5-4E4A-95D8-647286A1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862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ap-label-3">
            <a:extLst xmlns:a="http://schemas.openxmlformats.org/drawingml/2006/main">
              <a:ext uri="{FF2B5EF4-FFF2-40B4-BE49-F238E27FC236}">
                <a16:creationId xmlns:a16="http://schemas.microsoft.com/office/drawing/2014/main" id="{14224931-4EDC-4D38-888D-8CA1677C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38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tesla</a:t>
            </a:r>
          </a:p>
        </p:txBody>
      </p:sp>
      <p:sp>
        <p:nvSpPr>
          <p:cNvPr id="14" name="map-4">
            <a:extLst xmlns:a="http://schemas.openxmlformats.org/drawingml/2006/main">
              <a:ext uri="{FF2B5EF4-FFF2-40B4-BE49-F238E27FC236}">
                <a16:creationId xmlns:a16="http://schemas.microsoft.com/office/drawing/2014/main" id="{61859945-24D3-485D-BE67-D24385E4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53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ap-label-4">
            <a:extLst xmlns:a="http://schemas.openxmlformats.org/drawingml/2006/main">
              <a:ext uri="{FF2B5EF4-FFF2-40B4-BE49-F238E27FC236}">
                <a16:creationId xmlns:a16="http://schemas.microsoft.com/office/drawing/2014/main" id="{70557D76-01C8-4463-950D-539A122E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9053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bmw</a:t>
            </a:r>
          </a:p>
        </p:txBody>
      </p:sp>
      <p:sp>
        <p:nvSpPr>
          <p:cNvPr id="16" name="map-5">
            <a:extLst xmlns:a="http://schemas.openxmlformats.org/drawingml/2006/main">
              <a:ext uri="{FF2B5EF4-FFF2-40B4-BE49-F238E27FC236}">
                <a16:creationId xmlns:a16="http://schemas.microsoft.com/office/drawing/2014/main" id="{EC934D59-1C7F-4EAC-A73E-2D2E6792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76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ap-label-5">
            <a:extLst xmlns:a="http://schemas.openxmlformats.org/drawingml/2006/main">
              <a:ext uri="{FF2B5EF4-FFF2-40B4-BE49-F238E27FC236}">
                <a16:creationId xmlns:a16="http://schemas.microsoft.com/office/drawing/2014/main" id="{A729824D-0601-419A-960B-0332FB37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291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volvo</a:t>
            </a:r>
          </a:p>
        </p:txBody>
      </p:sp>
      <p:sp>
        <p:nvSpPr>
          <p:cNvPr id="18" name="map-6">
            <a:extLst xmlns:a="http://schemas.openxmlformats.org/drawingml/2006/main">
              <a:ext uri="{FF2B5EF4-FFF2-40B4-BE49-F238E27FC236}">
                <a16:creationId xmlns:a16="http://schemas.microsoft.com/office/drawing/2014/main" id="{17EA867A-40F3-4D33-B392-BDAD83A9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81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ap-label-6">
            <a:extLst xmlns:a="http://schemas.openxmlformats.org/drawingml/2006/main">
              <a:ext uri="{FF2B5EF4-FFF2-40B4-BE49-F238E27FC236}">
                <a16:creationId xmlns:a16="http://schemas.microsoft.com/office/drawing/2014/main" id="{20D002A3-F736-4813-9572-C2547254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336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toyota</a:t>
            </a:r>
          </a:p>
        </p:txBody>
      </p:sp>
      <p:sp>
        <p:nvSpPr>
          <p:cNvPr id="20" name="map-7">
            <a:extLst xmlns:a="http://schemas.openxmlformats.org/drawingml/2006/main">
              <a:ext uri="{FF2B5EF4-FFF2-40B4-BE49-F238E27FC236}">
                <a16:creationId xmlns:a16="http://schemas.microsoft.com/office/drawing/2014/main" id="{00C61DE8-D3A5-4D62-80E7-505B3EB2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336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ap-label-7">
            <a:extLst xmlns:a="http://schemas.openxmlformats.org/drawingml/2006/main">
              <a:ext uri="{FF2B5EF4-FFF2-40B4-BE49-F238E27FC236}">
                <a16:creationId xmlns:a16="http://schemas.microsoft.com/office/drawing/2014/main" id="{A226ECE2-1702-4A48-B825-4A6BECC8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860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mazda</a:t>
            </a:r>
          </a:p>
        </p:txBody>
      </p:sp>
      <p:sp>
        <p:nvSpPr>
          <p:cNvPr id="22" name="map-8">
            <a:extLst xmlns:a="http://schemas.openxmlformats.org/drawingml/2006/main">
              <a:ext uri="{FF2B5EF4-FFF2-40B4-BE49-F238E27FC236}">
                <a16:creationId xmlns:a16="http://schemas.microsoft.com/office/drawing/2014/main" id="{8C0FAD14-BD04-49A2-BDC2-887D845B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62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ap-label-8">
            <a:extLst xmlns:a="http://schemas.openxmlformats.org/drawingml/2006/main">
              <a:ext uri="{FF2B5EF4-FFF2-40B4-BE49-F238E27FC236}">
                <a16:creationId xmlns:a16="http://schemas.microsoft.com/office/drawing/2014/main" id="{1C805216-3899-46DC-8C0E-942CDEF9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149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subaru</a:t>
            </a:r>
          </a:p>
        </p:txBody>
      </p:sp>
      <p:sp>
        <p:nvSpPr>
          <p:cNvPr id="24" name="map-9">
            <a:extLst xmlns:a="http://schemas.openxmlformats.org/drawingml/2006/main">
              <a:ext uri="{FF2B5EF4-FFF2-40B4-BE49-F238E27FC236}">
                <a16:creationId xmlns:a16="http://schemas.microsoft.com/office/drawing/2014/main" id="{BB8D41EA-20D9-4C05-8DCF-5976F37E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857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ap-label-9">
            <a:extLst xmlns:a="http://schemas.openxmlformats.org/drawingml/2006/main">
              <a:ext uri="{FF2B5EF4-FFF2-40B4-BE49-F238E27FC236}">
                <a16:creationId xmlns:a16="http://schemas.microsoft.com/office/drawing/2014/main" id="{9FAF1FFB-7594-43C0-A36C-7F881D5C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8101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jeep</a:t>
            </a:r>
          </a:p>
        </p:txBody>
      </p:sp>
      <p:sp>
        <p:nvSpPr>
          <p:cNvPr id="26" name="map-10">
            <a:extLst xmlns:a="http://schemas.openxmlformats.org/drawingml/2006/main">
              <a:ext uri="{FF2B5EF4-FFF2-40B4-BE49-F238E27FC236}">
                <a16:creationId xmlns:a16="http://schemas.microsoft.com/office/drawing/2014/main" id="{2BCD2202-4CEC-4D7D-A346-88719F44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76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map-label-10">
            <a:extLst xmlns:a="http://schemas.openxmlformats.org/drawingml/2006/main">
              <a:ext uri="{FF2B5EF4-FFF2-40B4-BE49-F238E27FC236}">
                <a16:creationId xmlns:a16="http://schemas.microsoft.com/office/drawing/2014/main" id="{B865EB6C-DE50-4E4E-9974-F0A6CA0F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4291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honda</a:t>
            </a:r>
          </a:p>
        </p:txBody>
      </p:sp>
      <p:sp>
        <p:nvSpPr>
          <p:cNvPr id="28" name="neighbor-list">
            <a:extLst xmlns:a="http://schemas.openxmlformats.org/drawingml/2006/main">
              <a:ext uri="{FF2B5EF4-FFF2-40B4-BE49-F238E27FC236}">
                <a16:creationId xmlns:a16="http://schemas.microsoft.com/office/drawing/2014/main" id="{A2F43493-3543-4B5C-9FFA-6CE14DC6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57450"/>
            <a:ext cx="3714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Nearest examples in the 2D projection: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lexus -&gt; acura, ford, cadillac</a:t>
            </a:r>
          </a:p>
          <a:p xmlns:a="http://schemas.openxmlformats.org/drawingml/2006/main">
            <a:pPr algn="l">
              <a:defRPr sz="17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tesla -&gt; bmw, volvo, toyota</a:t>
            </a:r>
          </a:p>
          <a:p xmlns:a="http://schemas.openxmlformats.org/drawingml/2006/main">
            <a:pPr algn="l">
              <a:defRPr sz="17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toyota -&gt; mazda, tesla, volvo</a:t>
            </a:r>
          </a:p>
        </p:txBody>
      </p:sp>
      <p:sp>
        <p:nvSpPr>
          <p:cNvPr id="29" name="map-caveat">
            <a:extLst xmlns:a="http://schemas.openxmlformats.org/drawingml/2006/main">
              <a:ext uri="{FF2B5EF4-FFF2-40B4-BE49-F238E27FC236}">
                <a16:creationId xmlns:a16="http://schemas.microsoft.com/office/drawing/2014/main" id="{0CB3A0C1-812A-4E52-BF8A-8FF4007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91050"/>
            <a:ext cx="3638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is task-learned geometry, not a claim that the model understands car brands like a person.</a:t>
            </a:r>
          </a:p>
        </p:txBody>
      </p:sp>
      <p:sp>
        <p:nvSpPr>
          <p:cNvPr id="30" name="footer-source-12">
            <a:extLst xmlns:a="http://schemas.openxmlformats.org/drawingml/2006/main">
              <a:ext uri="{FF2B5EF4-FFF2-40B4-BE49-F238E27FC236}">
                <a16:creationId xmlns:a16="http://schemas.microsoft.com/office/drawing/2014/main" id="{25857DF0-BADF-4E8F-84EA-01A846DF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Projection: PCA of learned make embeddings</a:t>
            </a:r>
          </a:p>
        </p:txBody>
      </p:sp>
      <p:sp>
        <p:nvSpPr>
          <p:cNvPr id="3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393B8302-35AB-429C-8D3D-03C1B2B2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299323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3">
            <a:extLst xmlns:a="http://schemas.openxmlformats.org/drawingml/2006/main">
              <a:ext uri="{FF2B5EF4-FFF2-40B4-BE49-F238E27FC236}">
                <a16:creationId xmlns:a16="http://schemas.microsoft.com/office/drawing/2014/main" id="{92464A55-E5CB-4BC4-8498-7D767ED9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Same Idea Shows Up Everywhere</a:t>
            </a:r>
          </a:p>
        </p:txBody>
      </p:sp>
      <p:sp>
        <p:nvSpPr>
          <p:cNvPr id="2" name="subtitle-13">
            <a:extLst xmlns:a="http://schemas.openxmlformats.org/drawingml/2006/main">
              <a:ext uri="{FF2B5EF4-FFF2-40B4-BE49-F238E27FC236}">
                <a16:creationId xmlns:a16="http://schemas.microsoft.com/office/drawing/2014/main" id="{32750069-2F7B-433D-8155-8F19EFB0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Representation learning is a general way to make comparison possible.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27EBF13-B27D-4C2E-9443-EBD06759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3">
            <a:extLst xmlns:a="http://schemas.openxmlformats.org/drawingml/2006/main">
              <a:ext uri="{FF2B5EF4-FFF2-40B4-BE49-F238E27FC236}">
                <a16:creationId xmlns:a16="http://schemas.microsoft.com/office/drawing/2014/main" id="{B214AEE5-F8A7-4EC0-9118-7D338A22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breadth-core">
            <a:extLst xmlns:a="http://schemas.openxmlformats.org/drawingml/2006/main">
              <a:ext uri="{FF2B5EF4-FFF2-40B4-BE49-F238E27FC236}">
                <a16:creationId xmlns:a16="http://schemas.microsoft.com/office/drawing/2014/main" id="{4C577AD3-ABF0-4AAE-B045-B9DD7F98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object -&gt; vector -&gt; useful action</a:t>
            </a:r>
          </a:p>
        </p:txBody>
      </p:sp>
      <p:sp>
        <p:nvSpPr>
          <p:cNvPr id="6" name="breadth-0-circle">
            <a:extLst xmlns:a="http://schemas.openxmlformats.org/drawingml/2006/main">
              <a:ext uri="{FF2B5EF4-FFF2-40B4-BE49-F238E27FC236}">
                <a16:creationId xmlns:a16="http://schemas.microsoft.com/office/drawing/2014/main" id="{F8E05BA0-B5DA-4610-9FDA-F1D6DDAF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CA62B"/>
            </a:solidFill>
            <a:prstDash val="solid"/>
          </a:ln>
        </p:spPr>
      </p:sp>
      <p:sp>
        <p:nvSpPr>
          <p:cNvPr id="7" name="breadth-0-symbol">
            <a:extLst xmlns:a="http://schemas.openxmlformats.org/drawingml/2006/main">
              <a:ext uri="{FF2B5EF4-FFF2-40B4-BE49-F238E27FC236}">
                <a16:creationId xmlns:a16="http://schemas.microsoft.com/office/drawing/2014/main" id="{58084DE6-B921-42B2-8132-B79F5DA2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breadth-0-label">
            <a:extLst xmlns:a="http://schemas.openxmlformats.org/drawingml/2006/main">
              <a:ext uri="{FF2B5EF4-FFF2-40B4-BE49-F238E27FC236}">
                <a16:creationId xmlns:a16="http://schemas.microsoft.com/office/drawing/2014/main" id="{E45D3DFD-D14D-4907-B6E8-B5A82999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195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recommend</a:t>
            </a:r>
          </a:p>
        </p:txBody>
      </p:sp>
      <p:sp>
        <p:nvSpPr>
          <p:cNvPr id="9" name="breadth-detail-0">
            <a:extLst xmlns:a="http://schemas.openxmlformats.org/drawingml/2006/main">
              <a:ext uri="{FF2B5EF4-FFF2-40B4-BE49-F238E27FC236}">
                <a16:creationId xmlns:a16="http://schemas.microsoft.com/office/drawing/2014/main" id="{AB38FAFE-C643-49ED-BC4A-AA933083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9146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people and items</a:t>
            </a:r>
          </a:p>
        </p:txBody>
      </p:sp>
      <p:sp>
        <p:nvSpPr>
          <p:cNvPr id="10" name="breadth-1-circle">
            <a:extLst xmlns:a="http://schemas.openxmlformats.org/drawingml/2006/main">
              <a:ext uri="{FF2B5EF4-FFF2-40B4-BE49-F238E27FC236}">
                <a16:creationId xmlns:a16="http://schemas.microsoft.com/office/drawing/2014/main" id="{ACF75207-5847-466A-8F2C-45A6F3B7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sp>
        <p:nvSpPr>
          <p:cNvPr id="11" name="breadth-1-symbol">
            <a:extLst xmlns:a="http://schemas.openxmlformats.org/drawingml/2006/main">
              <a:ext uri="{FF2B5EF4-FFF2-40B4-BE49-F238E27FC236}">
                <a16:creationId xmlns:a16="http://schemas.microsoft.com/office/drawing/2014/main" id="{2DA733FD-F8BD-4303-9CED-9D488A60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14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breadth-1-label">
            <a:extLst xmlns:a="http://schemas.openxmlformats.org/drawingml/2006/main">
              <a:ext uri="{FF2B5EF4-FFF2-40B4-BE49-F238E27FC236}">
                <a16:creationId xmlns:a16="http://schemas.microsoft.com/office/drawing/2014/main" id="{DB8EA636-4FB1-4AF2-9D9B-62E3F3C9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6195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13" name="breadth-detail-1">
            <a:extLst xmlns:a="http://schemas.openxmlformats.org/drawingml/2006/main">
              <a:ext uri="{FF2B5EF4-FFF2-40B4-BE49-F238E27FC236}">
                <a16:creationId xmlns:a16="http://schemas.microsoft.com/office/drawing/2014/main" id="{D65C7E37-D043-4403-A7AA-7A8BE8E3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146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images and text</a:t>
            </a:r>
          </a:p>
        </p:txBody>
      </p:sp>
      <p:sp>
        <p:nvSpPr>
          <p:cNvPr id="14" name="breadth-2-circle">
            <a:extLst xmlns:a="http://schemas.openxmlformats.org/drawingml/2006/main">
              <a:ext uri="{FF2B5EF4-FFF2-40B4-BE49-F238E27FC236}">
                <a16:creationId xmlns:a16="http://schemas.microsoft.com/office/drawing/2014/main" id="{0D3EEDAF-777A-4E66-A25C-CF3D00A7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813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15" name="breadth-2-symbol">
            <a:extLst xmlns:a="http://schemas.openxmlformats.org/drawingml/2006/main">
              <a:ext uri="{FF2B5EF4-FFF2-40B4-BE49-F238E27FC236}">
                <a16:creationId xmlns:a16="http://schemas.microsoft.com/office/drawing/2014/main" id="{0252E8FF-483A-4779-B4D6-DBAFB323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14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breadth-2-label">
            <a:extLst xmlns:a="http://schemas.openxmlformats.org/drawingml/2006/main">
              <a:ext uri="{FF2B5EF4-FFF2-40B4-BE49-F238E27FC236}">
                <a16:creationId xmlns:a16="http://schemas.microsoft.com/office/drawing/2014/main" id="{F39B26BF-333D-473E-8E21-2E68698F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6195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translate</a:t>
            </a:r>
          </a:p>
        </p:txBody>
      </p:sp>
      <p:sp>
        <p:nvSpPr>
          <p:cNvPr id="17" name="breadth-detail-2">
            <a:extLst xmlns:a="http://schemas.openxmlformats.org/drawingml/2006/main">
              <a:ext uri="{FF2B5EF4-FFF2-40B4-BE49-F238E27FC236}">
                <a16:creationId xmlns:a16="http://schemas.microsoft.com/office/drawing/2014/main" id="{F6D68AF0-D4E9-46AB-8460-F50729B7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146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words and context</a:t>
            </a:r>
          </a:p>
        </p:txBody>
      </p:sp>
      <p:sp>
        <p:nvSpPr>
          <p:cNvPr id="18" name="breadth-3-circle">
            <a:extLst xmlns:a="http://schemas.openxmlformats.org/drawingml/2006/main">
              <a:ext uri="{FF2B5EF4-FFF2-40B4-BE49-F238E27FC236}">
                <a16:creationId xmlns:a16="http://schemas.microsoft.com/office/drawing/2014/main" id="{74E2B9D5-CF18-4C48-A24A-35C55FAE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19" name="breadth-3-symbol">
            <a:extLst xmlns:a="http://schemas.openxmlformats.org/drawingml/2006/main">
              <a:ext uri="{FF2B5EF4-FFF2-40B4-BE49-F238E27FC236}">
                <a16:creationId xmlns:a16="http://schemas.microsoft.com/office/drawing/2014/main" id="{BDFEE6A7-8629-4DA8-ABA7-1D609478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breadth-3-label">
            <a:extLst xmlns:a="http://schemas.openxmlformats.org/drawingml/2006/main">
              <a:ext uri="{FF2B5EF4-FFF2-40B4-BE49-F238E27FC236}">
                <a16:creationId xmlns:a16="http://schemas.microsoft.com/office/drawing/2014/main" id="{BDD64363-17EF-42F9-97DF-8BE5EE2F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0673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annotate</a:t>
            </a:r>
          </a:p>
        </p:txBody>
      </p:sp>
      <p:sp>
        <p:nvSpPr>
          <p:cNvPr id="21" name="breadth-detail-3">
            <a:extLst xmlns:a="http://schemas.openxmlformats.org/drawingml/2006/main">
              <a:ext uri="{FF2B5EF4-FFF2-40B4-BE49-F238E27FC236}">
                <a16:creationId xmlns:a16="http://schemas.microsoft.com/office/drawing/2014/main" id="{D9743494-C70A-40D7-A3CA-2DC88221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362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protein sequences</a:t>
            </a:r>
          </a:p>
        </p:txBody>
      </p:sp>
      <p:sp>
        <p:nvSpPr>
          <p:cNvPr id="22" name="breadth-4-circle">
            <a:extLst xmlns:a="http://schemas.openxmlformats.org/drawingml/2006/main">
              <a:ext uri="{FF2B5EF4-FFF2-40B4-BE49-F238E27FC236}">
                <a16:creationId xmlns:a16="http://schemas.microsoft.com/office/drawing/2014/main" id="{3B498936-CDC6-40E2-BB7A-E3C97A49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23" name="breadth-4-symbol">
            <a:extLst xmlns:a="http://schemas.openxmlformats.org/drawingml/2006/main">
              <a:ext uri="{FF2B5EF4-FFF2-40B4-BE49-F238E27FC236}">
                <a16:creationId xmlns:a16="http://schemas.microsoft.com/office/drawing/2014/main" id="{F9914637-A0B4-4B87-918A-CE6989C8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624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breadth-4-label">
            <a:extLst xmlns:a="http://schemas.openxmlformats.org/drawingml/2006/main">
              <a:ext uri="{FF2B5EF4-FFF2-40B4-BE49-F238E27FC236}">
                <a16:creationId xmlns:a16="http://schemas.microsoft.com/office/drawing/2014/main" id="{0C797138-6E17-48DF-B014-10C59889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0673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cluster</a:t>
            </a:r>
          </a:p>
        </p:txBody>
      </p:sp>
      <p:sp>
        <p:nvSpPr>
          <p:cNvPr id="25" name="breadth-detail-4">
            <a:extLst xmlns:a="http://schemas.openxmlformats.org/drawingml/2006/main">
              <a:ext uri="{FF2B5EF4-FFF2-40B4-BE49-F238E27FC236}">
                <a16:creationId xmlns:a16="http://schemas.microsoft.com/office/drawing/2014/main" id="{E2A023D3-4A26-41E0-B2D5-310CE30C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62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cells or patients</a:t>
            </a:r>
          </a:p>
        </p:txBody>
      </p:sp>
      <p:sp>
        <p:nvSpPr>
          <p:cNvPr id="26" name="breadth-5-circle">
            <a:extLst xmlns:a="http://schemas.openxmlformats.org/drawingml/2006/main">
              <a:ext uri="{FF2B5EF4-FFF2-40B4-BE49-F238E27FC236}">
                <a16:creationId xmlns:a16="http://schemas.microsoft.com/office/drawing/2014/main" id="{7D1C843E-5032-44A4-9A10-60A11A21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201C"/>
            </a:solidFill>
            <a:prstDash val="solid"/>
          </a:ln>
        </p:spPr>
      </p:sp>
      <p:sp>
        <p:nvSpPr>
          <p:cNvPr id="27" name="breadth-5-symbol">
            <a:extLst xmlns:a="http://schemas.openxmlformats.org/drawingml/2006/main">
              <a:ext uri="{FF2B5EF4-FFF2-40B4-BE49-F238E27FC236}">
                <a16:creationId xmlns:a16="http://schemas.microsoft.com/office/drawing/2014/main" id="{1667CA2D-F3B7-4A0D-B644-FFAD979A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624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8" name="breadth-5-label">
            <a:extLst xmlns:a="http://schemas.openxmlformats.org/drawingml/2006/main">
              <a:ext uri="{FF2B5EF4-FFF2-40B4-BE49-F238E27FC236}">
                <a16:creationId xmlns:a16="http://schemas.microsoft.com/office/drawing/2014/main" id="{5A3C090F-6680-4E82-BEA7-FAC78197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50673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29" name="breadth-detail-5">
            <a:extLst xmlns:a="http://schemas.openxmlformats.org/drawingml/2006/main">
              <a:ext uri="{FF2B5EF4-FFF2-40B4-BE49-F238E27FC236}">
                <a16:creationId xmlns:a16="http://schemas.microsoft.com/office/drawing/2014/main" id="{69673F5B-00A9-408F-AE4F-7A62CC07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362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new candidates</a:t>
            </a:r>
          </a:p>
        </p:txBody>
      </p:sp>
      <p:sp>
        <p:nvSpPr>
          <p:cNvPr id="30" name="footer-source-13">
            <a:extLst xmlns:a="http://schemas.openxmlformats.org/drawingml/2006/main">
              <a:ext uri="{FF2B5EF4-FFF2-40B4-BE49-F238E27FC236}">
                <a16:creationId xmlns:a16="http://schemas.microsoft.com/office/drawing/2014/main" id="{E7599575-3423-4530-96F1-914F0201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F2EA4216-1953-46C7-A50D-0F3919FE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77071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4">
            <a:extLst xmlns:a="http://schemas.openxmlformats.org/drawingml/2006/main">
              <a:ext uri="{FF2B5EF4-FFF2-40B4-BE49-F238E27FC236}">
                <a16:creationId xmlns:a16="http://schemas.microsoft.com/office/drawing/2014/main" id="{24F72208-ED5A-4F69-8C99-A9C4742B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Recommendations: Taste as Geometry</a:t>
            </a:r>
          </a:p>
        </p:txBody>
      </p:sp>
      <p:sp>
        <p:nvSpPr>
          <p:cNvPr id="2" name="subtitle-14">
            <a:extLst xmlns:a="http://schemas.openxmlformats.org/drawingml/2006/main">
              <a:ext uri="{FF2B5EF4-FFF2-40B4-BE49-F238E27FC236}">
                <a16:creationId xmlns:a16="http://schemas.microsoft.com/office/drawing/2014/main" id="{7087C413-6B88-4B30-9F95-9C662A2E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 recommender learns vectors for people and items.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818F87BA-42C5-404F-AC6D-56E295BF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4">
            <a:extLst xmlns:a="http://schemas.openxmlformats.org/drawingml/2006/main">
              <a:ext uri="{FF2B5EF4-FFF2-40B4-BE49-F238E27FC236}">
                <a16:creationId xmlns:a16="http://schemas.microsoft.com/office/drawing/2014/main" id="{76678B92-E7CD-4208-85AB-4CD341BA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erson-label">
            <a:extLst xmlns:a="http://schemas.openxmlformats.org/drawingml/2006/main">
              <a:ext uri="{FF2B5EF4-FFF2-40B4-BE49-F238E27FC236}">
                <a16:creationId xmlns:a16="http://schemas.microsoft.com/office/drawing/2014/main" id="{048B66E0-CC28-44D8-AB80-767D5F83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813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student</a:t>
            </a:r>
          </a:p>
        </p:txBody>
      </p:sp>
      <p:sp>
        <p:nvSpPr>
          <p:cNvPr id="6" name="person-vector">
            <a:extLst xmlns:a="http://schemas.openxmlformats.org/drawingml/2006/main">
              <a:ext uri="{FF2B5EF4-FFF2-40B4-BE49-F238E27FC236}">
                <a16:creationId xmlns:a16="http://schemas.microsoft.com/office/drawing/2014/main" id="{0B0EFC7D-3934-4F6C-9FE9-5B11E6E9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57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-dot-0">
            <a:extLst xmlns:a="http://schemas.openxmlformats.org/drawingml/2006/main">
              <a:ext uri="{FF2B5EF4-FFF2-40B4-BE49-F238E27FC236}">
                <a16:creationId xmlns:a16="http://schemas.microsoft.com/office/drawing/2014/main" id="{B41A0BE5-E86D-4F98-81ED-D739FA13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76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-label-0">
            <a:extLst xmlns:a="http://schemas.openxmlformats.org/drawingml/2006/main">
              <a:ext uri="{FF2B5EF4-FFF2-40B4-BE49-F238E27FC236}">
                <a16:creationId xmlns:a16="http://schemas.microsoft.com/office/drawing/2014/main" id="{8E2A8CDB-F6A1-4AF4-94F9-7CC421EA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95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robotics</a:t>
            </a:r>
          </a:p>
        </p:txBody>
      </p:sp>
      <p:sp>
        <p:nvSpPr>
          <p:cNvPr id="9" name="rec-sim-0">
            <a:extLst xmlns:a="http://schemas.openxmlformats.org/drawingml/2006/main">
              <a:ext uri="{FF2B5EF4-FFF2-40B4-BE49-F238E27FC236}">
                <a16:creationId xmlns:a16="http://schemas.microsoft.com/office/drawing/2014/main" id="{CAEEFA61-266C-4A4F-A743-66D465D3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95700"/>
            <a:ext cx="3657600" cy="-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sp>
        <p:nvSpPr>
          <p:cNvPr id="10" name="rec-dot-1">
            <a:extLst xmlns:a="http://schemas.openxmlformats.org/drawingml/2006/main">
              <a:ext uri="{FF2B5EF4-FFF2-40B4-BE49-F238E27FC236}">
                <a16:creationId xmlns:a16="http://schemas.microsoft.com/office/drawing/2014/main" id="{BAA136A2-70AB-443F-9518-6FAB0784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-label-1">
            <a:extLst xmlns:a="http://schemas.openxmlformats.org/drawingml/2006/main">
              <a:ext uri="{FF2B5EF4-FFF2-40B4-BE49-F238E27FC236}">
                <a16:creationId xmlns:a16="http://schemas.microsoft.com/office/drawing/2014/main" id="{B4AF1958-0C14-4284-9FD1-8C790724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480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biology</a:t>
            </a:r>
          </a:p>
        </p:txBody>
      </p:sp>
      <p:sp>
        <p:nvSpPr>
          <p:cNvPr id="12" name="rec-sim-1">
            <a:extLst xmlns:a="http://schemas.openxmlformats.org/drawingml/2006/main">
              <a:ext uri="{FF2B5EF4-FFF2-40B4-BE49-F238E27FC236}">
                <a16:creationId xmlns:a16="http://schemas.microsoft.com/office/drawing/2014/main" id="{CA9059F0-B9F4-4A82-BD45-7B9D7054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95700"/>
            <a:ext cx="4876800" cy="-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8C7E"/>
            </a:solidFill>
            <a:prstDash val="solid"/>
          </a:ln>
        </p:spPr>
      </p:sp>
      <p:sp>
        <p:nvSpPr>
          <p:cNvPr id="13" name="rec-dot-2">
            <a:extLst xmlns:a="http://schemas.openxmlformats.org/drawingml/2006/main">
              <a:ext uri="{FF2B5EF4-FFF2-40B4-BE49-F238E27FC236}">
                <a16:creationId xmlns:a16="http://schemas.microsoft.com/office/drawing/2014/main" id="{842D0459-C0AB-4F96-A695-D41A9D64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19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c-label-2">
            <a:extLst xmlns:a="http://schemas.openxmlformats.org/drawingml/2006/main">
              <a:ext uri="{FF2B5EF4-FFF2-40B4-BE49-F238E27FC236}">
                <a16:creationId xmlns:a16="http://schemas.microsoft.com/office/drawing/2014/main" id="{E0171478-57F3-42C9-961C-B785F3B2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38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music</a:t>
            </a:r>
          </a:p>
        </p:txBody>
      </p:sp>
      <p:sp>
        <p:nvSpPr>
          <p:cNvPr id="15" name="rec-sim-2">
            <a:extLst xmlns:a="http://schemas.openxmlformats.org/drawingml/2006/main">
              <a:ext uri="{FF2B5EF4-FFF2-40B4-BE49-F238E27FC236}">
                <a16:creationId xmlns:a16="http://schemas.microsoft.com/office/drawing/2014/main" id="{850C9050-C8F7-460C-A0F0-3C3198D9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95700"/>
            <a:ext cx="582930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16" name="rec-dot-3">
            <a:extLst xmlns:a="http://schemas.openxmlformats.org/drawingml/2006/main">
              <a:ext uri="{FF2B5EF4-FFF2-40B4-BE49-F238E27FC236}">
                <a16:creationId xmlns:a16="http://schemas.microsoft.com/office/drawing/2014/main" id="{42545996-3E29-47F1-A213-DF5FF39E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81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-label-3">
            <a:extLst xmlns:a="http://schemas.openxmlformats.org/drawingml/2006/main">
              <a:ext uri="{FF2B5EF4-FFF2-40B4-BE49-F238E27FC236}">
                <a16:creationId xmlns:a16="http://schemas.microsoft.com/office/drawing/2014/main" id="{8541AC48-834C-4D2A-8C90-359E9F24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00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coding</a:t>
            </a:r>
          </a:p>
        </p:txBody>
      </p:sp>
      <p:sp>
        <p:nvSpPr>
          <p:cNvPr id="18" name="rec-sim-3">
            <a:extLst xmlns:a="http://schemas.openxmlformats.org/drawingml/2006/main">
              <a:ext uri="{FF2B5EF4-FFF2-40B4-BE49-F238E27FC236}">
                <a16:creationId xmlns:a16="http://schemas.microsoft.com/office/drawing/2014/main" id="{F8F46629-3919-4354-B943-EACC6AB0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95700"/>
            <a:ext cx="4038600" cy="108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9" name="rec-dot-4">
            <a:extLst xmlns:a="http://schemas.openxmlformats.org/drawingml/2006/main">
              <a:ext uri="{FF2B5EF4-FFF2-40B4-BE49-F238E27FC236}">
                <a16:creationId xmlns:a16="http://schemas.microsoft.com/office/drawing/2014/main" id="{2D875F11-038A-48D9-9B6F-B0844DB6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86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c-label-4">
            <a:extLst xmlns:a="http://schemas.openxmlformats.org/drawingml/2006/main">
              <a:ext uri="{FF2B5EF4-FFF2-40B4-BE49-F238E27FC236}">
                <a16:creationId xmlns:a16="http://schemas.microsoft.com/office/drawing/2014/main" id="{2B1AA822-43CA-488C-9F9E-ED45017F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051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random</a:t>
            </a:r>
          </a:p>
        </p:txBody>
      </p:sp>
      <p:sp>
        <p:nvSpPr>
          <p:cNvPr id="21" name="recommend-copy">
            <a:extLst xmlns:a="http://schemas.openxmlformats.org/drawingml/2006/main">
              <a:ext uri="{FF2B5EF4-FFF2-40B4-BE49-F238E27FC236}">
                <a16:creationId xmlns:a16="http://schemas.microsoft.com/office/drawing/2014/main" id="{8F4CBEE6-D9F5-4BA9-AD25-3A8A47EA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95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Learning puts tastes and items into the same space. Similar directions become recommendations.</a:t>
            </a:r>
          </a:p>
        </p:txBody>
      </p:sp>
      <p:sp>
        <p:nvSpPr>
          <p:cNvPr id="22" name="footer-source-14">
            <a:extLst xmlns:a="http://schemas.openxmlformats.org/drawingml/2006/main">
              <a:ext uri="{FF2B5EF4-FFF2-40B4-BE49-F238E27FC236}">
                <a16:creationId xmlns:a16="http://schemas.microsoft.com/office/drawing/2014/main" id="{B118E973-79A6-47FF-A8FB-53E09656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3845B271-8911-4710-B0CE-5A937D8E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466118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5">
            <a:extLst xmlns:a="http://schemas.openxmlformats.org/drawingml/2006/main">
              <a:ext uri="{FF2B5EF4-FFF2-40B4-BE49-F238E27FC236}">
                <a16:creationId xmlns:a16="http://schemas.microsoft.com/office/drawing/2014/main" id="{B7DEA183-37AD-4FA3-8046-69A96B0E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Images and Text Can Share a Space</a:t>
            </a:r>
          </a:p>
        </p:txBody>
      </p:sp>
      <p:sp>
        <p:nvSpPr>
          <p:cNvPr id="2" name="subtitle-15">
            <a:extLst xmlns:a="http://schemas.openxmlformats.org/drawingml/2006/main">
              <a:ext uri="{FF2B5EF4-FFF2-40B4-BE49-F238E27FC236}">
                <a16:creationId xmlns:a16="http://schemas.microsoft.com/office/drawing/2014/main" id="{4C5ED63F-BC1F-4FE3-BCC8-EDAF28CA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 search phrase and a picture can be represented by nearby vectors.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49B6C00-3C5B-4CC3-B447-C2F10E06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5">
            <a:extLst xmlns:a="http://schemas.openxmlformats.org/drawingml/2006/main">
              <a:ext uri="{FF2B5EF4-FFF2-40B4-BE49-F238E27FC236}">
                <a16:creationId xmlns:a16="http://schemas.microsoft.com/office/drawing/2014/main" id="{5F79F059-F944-4D67-9005-8FFA2F56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image-photo-frame">
            <a:extLst xmlns:a="http://schemas.openxmlformats.org/drawingml/2006/main">
              <a:ext uri="{FF2B5EF4-FFF2-40B4-BE49-F238E27FC236}">
                <a16:creationId xmlns:a16="http://schemas.microsoft.com/office/drawing/2014/main" id="{0471CF00-9976-490C-8C38-F4A71343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28575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d7b1ddfae4a62"/>
          <a:stretch xmlns:a="http://schemas.openxmlformats.org/drawingml/2006/main"/>
        </p:blipFill>
        <p:spPr>
          <a:xfrm xmlns:a="http://schemas.openxmlformats.org/drawingml/2006/main">
            <a:off x="1130300" y="2457450"/>
            <a:ext cx="2159000" cy="1619250"/>
          </a:xfrm>
          <a:prstGeom xmlns:a="http://schemas.openxmlformats.org/drawingml/2006/main" prst="rect">
            <a:avLst/>
          </a:prstGeom>
        </p:spPr>
      </p:pic>
      <p:sp>
        <p:nvSpPr>
          <p:cNvPr id="7" name="image-photo-label">
            <a:extLst xmlns:a="http://schemas.openxmlformats.org/drawingml/2006/main">
              <a:ext uri="{FF2B5EF4-FFF2-40B4-BE49-F238E27FC236}">
                <a16:creationId xmlns:a16="http://schemas.microsoft.com/office/drawing/2014/main" id="{3A588720-F421-4426-A093-89AB2BE1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picture vector</a:t>
            </a:r>
          </a:p>
        </p:txBody>
      </p:sp>
      <p:sp>
        <p:nvSpPr>
          <p:cNvPr id="8" name="text-query-frame">
            <a:extLst xmlns:a="http://schemas.openxmlformats.org/drawingml/2006/main">
              <a:ext uri="{FF2B5EF4-FFF2-40B4-BE49-F238E27FC236}">
                <a16:creationId xmlns:a16="http://schemas.microsoft.com/office/drawing/2014/main" id="{827C26E6-B6FE-46AC-9B4C-63F78146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908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9" name="text-query">
            <a:extLst xmlns:a="http://schemas.openxmlformats.org/drawingml/2006/main">
              <a:ext uri="{FF2B5EF4-FFF2-40B4-BE49-F238E27FC236}">
                <a16:creationId xmlns:a16="http://schemas.microsoft.com/office/drawing/2014/main" id="{FA5B2DD9-8383-47B9-AA94-B6127ADB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71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"red hiking backpack"</a:t>
            </a:r>
          </a:p>
        </p:txBody>
      </p:sp>
      <p:sp>
        <p:nvSpPr>
          <p:cNvPr id="10" name="text-query-label">
            <a:extLst xmlns:a="http://schemas.openxmlformats.org/drawingml/2006/main">
              <a:ext uri="{FF2B5EF4-FFF2-40B4-BE49-F238E27FC236}">
                <a16:creationId xmlns:a16="http://schemas.microsoft.com/office/drawing/2014/main" id="{16DFBD7E-833C-421D-BC14-FD65758A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67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text vector</a:t>
            </a:r>
          </a:p>
        </p:txBody>
      </p:sp>
      <p:sp>
        <p:nvSpPr>
          <p:cNvPr id="11" name="shared-space-frame">
            <a:extLst xmlns:a="http://schemas.openxmlformats.org/drawingml/2006/main">
              <a:ext uri="{FF2B5EF4-FFF2-40B4-BE49-F238E27FC236}">
                <a16:creationId xmlns:a16="http://schemas.microsoft.com/office/drawing/2014/main" id="{D31B4519-5B06-46A9-841F-4DF53C92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050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CA62B"/>
            </a:solidFill>
            <a:prstDash val="solid"/>
          </a:ln>
        </p:spPr>
      </p:sp>
      <p:sp>
        <p:nvSpPr>
          <p:cNvPr id="12" name="shared-space-title">
            <a:extLst xmlns:a="http://schemas.openxmlformats.org/drawingml/2006/main">
              <a:ext uri="{FF2B5EF4-FFF2-40B4-BE49-F238E27FC236}">
                <a16:creationId xmlns:a16="http://schemas.microsoft.com/office/drawing/2014/main" id="{3E9BA3D0-7D2B-42EE-8F8C-C04264DC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shared vector space</a:t>
            </a:r>
          </a:p>
        </p:txBody>
      </p:sp>
      <p:sp>
        <p:nvSpPr>
          <p:cNvPr id="13" name="clip-photo-dot">
            <a:extLst xmlns:a="http://schemas.openxmlformats.org/drawingml/2006/main">
              <a:ext uri="{FF2B5EF4-FFF2-40B4-BE49-F238E27FC236}">
                <a16:creationId xmlns:a16="http://schemas.microsoft.com/office/drawing/2014/main" id="{F2AB4C40-C837-4BAF-A5AA-C8AA4BD3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528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lip-text-dot">
            <a:extLst xmlns:a="http://schemas.openxmlformats.org/drawingml/2006/main">
              <a:ext uri="{FF2B5EF4-FFF2-40B4-BE49-F238E27FC236}">
                <a16:creationId xmlns:a16="http://schemas.microsoft.com/office/drawing/2014/main" id="{E1F23370-1460-4932-94DE-BACEFC82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43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lip-other-dot-1">
            <a:extLst xmlns:a="http://schemas.openxmlformats.org/drawingml/2006/main">
              <a:ext uri="{FF2B5EF4-FFF2-40B4-BE49-F238E27FC236}">
                <a16:creationId xmlns:a16="http://schemas.microsoft.com/office/drawing/2014/main" id="{9C8C9337-B378-4656-99DF-95F17421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624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lip-other-dot-2">
            <a:extLst xmlns:a="http://schemas.openxmlformats.org/drawingml/2006/main">
              <a:ext uri="{FF2B5EF4-FFF2-40B4-BE49-F238E27FC236}">
                <a16:creationId xmlns:a16="http://schemas.microsoft.com/office/drawing/2014/main" id="{8B64805D-3E8A-4EF9-9D61-B206A060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1432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hared-nearby">
            <a:extLst xmlns:a="http://schemas.openxmlformats.org/drawingml/2006/main">
              <a:ext uri="{FF2B5EF4-FFF2-40B4-BE49-F238E27FC236}">
                <a16:creationId xmlns:a16="http://schemas.microsoft.com/office/drawing/2014/main" id="{EC3986F6-D243-4152-AE5E-58906E74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95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nearby = likely match</a:t>
            </a:r>
          </a:p>
        </p:txBody>
      </p:sp>
      <p:sp>
        <p:nvSpPr>
          <p:cNvPr id="18" name="image-to-space">
            <a:extLst xmlns:a="http://schemas.openxmlformats.org/drawingml/2006/main">
              <a:ext uri="{FF2B5EF4-FFF2-40B4-BE49-F238E27FC236}">
                <a16:creationId xmlns:a16="http://schemas.microsoft.com/office/drawing/2014/main" id="{22B1B5D2-A12A-4C59-9822-6E809ACC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43250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to-space">
            <a:extLst xmlns:a="http://schemas.openxmlformats.org/drawingml/2006/main">
              <a:ext uri="{FF2B5EF4-FFF2-40B4-BE49-F238E27FC236}">
                <a16:creationId xmlns:a16="http://schemas.microsoft.com/office/drawing/2014/main" id="{7956F1EB-CC78-4B47-98BC-048DBE79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800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lip-note">
            <a:extLst xmlns:a="http://schemas.openxmlformats.org/drawingml/2006/main">
              <a:ext uri="{FF2B5EF4-FFF2-40B4-BE49-F238E27FC236}">
                <a16:creationId xmlns:a16="http://schemas.microsoft.com/office/drawing/2014/main" id="{46E12979-67C5-4EA9-BB28-BA4B6F84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625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Search becomes geometry when pictures and phrases use compatible coordinates.</a:t>
            </a:r>
          </a:p>
        </p:txBody>
      </p:sp>
      <p:sp>
        <p:nvSpPr>
          <p:cNvPr id="21" name="footer-source-15">
            <a:extLst xmlns:a="http://schemas.openxmlformats.org/drawingml/2006/main">
              <a:ext uri="{FF2B5EF4-FFF2-40B4-BE49-F238E27FC236}">
                <a16:creationId xmlns:a16="http://schemas.microsoft.com/office/drawing/2014/main" id="{DD93371A-FA1E-436B-9CB7-0B716472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39CFF66E-99C4-42DB-A8C6-5B0D8743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1413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6">
            <a:extLst xmlns:a="http://schemas.openxmlformats.org/drawingml/2006/main">
              <a:ext uri="{FF2B5EF4-FFF2-40B4-BE49-F238E27FC236}">
                <a16:creationId xmlns:a16="http://schemas.microsoft.com/office/drawing/2014/main" id="{4AC5EA25-F478-4545-A9B9-77C56557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Language Models Learn by Prediction</a:t>
            </a:r>
          </a:p>
        </p:txBody>
      </p:sp>
      <p:sp>
        <p:nvSpPr>
          <p:cNvPr id="2" name="subtitle-16">
            <a:extLst xmlns:a="http://schemas.openxmlformats.org/drawingml/2006/main">
              <a:ext uri="{FF2B5EF4-FFF2-40B4-BE49-F238E27FC236}">
                <a16:creationId xmlns:a16="http://schemas.microsoft.com/office/drawing/2014/main" id="{2970F863-CD5E-4EA2-9699-F1B90AFD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ModernBERT learns representations by filling in blanks.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918195B8-4B8F-400E-8F39-F27A4226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6">
            <a:extLst xmlns:a="http://schemas.openxmlformats.org/drawingml/2006/main">
              <a:ext uri="{FF2B5EF4-FFF2-40B4-BE49-F238E27FC236}">
                <a16:creationId xmlns:a16="http://schemas.microsoft.com/office/drawing/2014/main" id="{ECA7B3DF-71B4-45D9-A2CD-E7926A7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sk-card-0">
            <a:extLst xmlns:a="http://schemas.openxmlformats.org/drawingml/2006/main">
              <a:ext uri="{FF2B5EF4-FFF2-40B4-BE49-F238E27FC236}">
                <a16:creationId xmlns:a16="http://schemas.microsoft.com/office/drawing/2014/main" id="{4CFC71E1-7970-4020-A3A2-7522D5EE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7734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6" name="mask-sentence-0">
            <a:extLst xmlns:a="http://schemas.openxmlformats.org/drawingml/2006/main">
              <a:ext uri="{FF2B5EF4-FFF2-40B4-BE49-F238E27FC236}">
                <a16:creationId xmlns:a16="http://schemas.microsoft.com/office/drawing/2014/main" id="{35A48B9F-55E5-4BFD-9240-EC6404D2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[MASK] wore a crown.</a:t>
            </a:r>
          </a:p>
        </p:txBody>
      </p:sp>
      <p:sp>
        <p:nvSpPr>
          <p:cNvPr id="7" name="mask-answer-box-0">
            <a:extLst xmlns:a="http://schemas.openxmlformats.org/drawingml/2006/main">
              <a:ext uri="{FF2B5EF4-FFF2-40B4-BE49-F238E27FC236}">
                <a16:creationId xmlns:a16="http://schemas.microsoft.com/office/drawing/2014/main" id="{26A71808-C130-4AFD-8244-D45D30D6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ask-answer-0">
            <a:extLst xmlns:a="http://schemas.openxmlformats.org/drawingml/2006/main">
              <a:ext uri="{FF2B5EF4-FFF2-40B4-BE49-F238E27FC236}">
                <a16:creationId xmlns:a16="http://schemas.microsoft.com/office/drawing/2014/main" id="{F8B175DA-E106-49C3-A3AF-524E8623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81275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king</a:t>
            </a:r>
          </a:p>
        </p:txBody>
      </p:sp>
      <p:sp>
        <p:nvSpPr>
          <p:cNvPr id="9" name="mask-card-1">
            <a:extLst xmlns:a="http://schemas.openxmlformats.org/drawingml/2006/main">
              <a:ext uri="{FF2B5EF4-FFF2-40B4-BE49-F238E27FC236}">
                <a16:creationId xmlns:a16="http://schemas.microsoft.com/office/drawing/2014/main" id="{684C170C-9BBC-4626-B921-4D8B57CD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7734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mask-sentence-1">
            <a:extLst xmlns:a="http://schemas.openxmlformats.org/drawingml/2006/main">
              <a:ext uri="{FF2B5EF4-FFF2-40B4-BE49-F238E27FC236}">
                <a16:creationId xmlns:a16="http://schemas.microsoft.com/office/drawing/2014/main" id="{86E640F2-41DD-46AE-B1D6-80C4F886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scientist mixed chemicals in the [MASK].</a:t>
            </a:r>
          </a:p>
        </p:txBody>
      </p:sp>
      <p:sp>
        <p:nvSpPr>
          <p:cNvPr id="11" name="mask-answer-box-1">
            <a:extLst xmlns:a="http://schemas.openxmlformats.org/drawingml/2006/main">
              <a:ext uri="{FF2B5EF4-FFF2-40B4-BE49-F238E27FC236}">
                <a16:creationId xmlns:a16="http://schemas.microsoft.com/office/drawing/2014/main" id="{A0FCD543-DF29-40C4-8ED4-DC82E041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ask-answer-1">
            <a:extLst xmlns:a="http://schemas.openxmlformats.org/drawingml/2006/main">
              <a:ext uri="{FF2B5EF4-FFF2-40B4-BE49-F238E27FC236}">
                <a16:creationId xmlns:a16="http://schemas.microsoft.com/office/drawing/2014/main" id="{B27665AB-9C79-4D94-B551-0B375C11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24275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  <p:sp>
        <p:nvSpPr>
          <p:cNvPr id="13" name="mask-card-2">
            <a:extLst xmlns:a="http://schemas.openxmlformats.org/drawingml/2006/main">
              <a:ext uri="{FF2B5EF4-FFF2-40B4-BE49-F238E27FC236}">
                <a16:creationId xmlns:a16="http://schemas.microsoft.com/office/drawing/2014/main" id="{3445BFF4-6B23-465A-84B8-86E9BEE4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7734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4" name="mask-sentence-2">
            <a:extLst xmlns:a="http://schemas.openxmlformats.org/drawingml/2006/main">
              <a:ext uri="{FF2B5EF4-FFF2-40B4-BE49-F238E27FC236}">
                <a16:creationId xmlns:a16="http://schemas.microsoft.com/office/drawing/2014/main" id="{541FF0A0-048B-46AE-A32B-A75CDDC8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 protein sequence folds into a [MASK].</a:t>
            </a:r>
          </a:p>
        </p:txBody>
      </p:sp>
      <p:sp>
        <p:nvSpPr>
          <p:cNvPr id="15" name="mask-answer-box-2">
            <a:extLst xmlns:a="http://schemas.openxmlformats.org/drawingml/2006/main">
              <a:ext uri="{FF2B5EF4-FFF2-40B4-BE49-F238E27FC236}">
                <a16:creationId xmlns:a16="http://schemas.microsoft.com/office/drawing/2014/main" id="{0780263C-F155-4B1C-961E-E986C233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815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ask-answer-2">
            <a:extLst xmlns:a="http://schemas.openxmlformats.org/drawingml/2006/main">
              <a:ext uri="{FF2B5EF4-FFF2-40B4-BE49-F238E27FC236}">
                <a16:creationId xmlns:a16="http://schemas.microsoft.com/office/drawing/2014/main" id="{4D57653E-0F90-4916-82E0-B9719C39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67275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helix</a:t>
            </a:r>
          </a:p>
        </p:txBody>
      </p:sp>
      <p:sp>
        <p:nvSpPr>
          <p:cNvPr id="17" name="mask-note">
            <a:extLst xmlns:a="http://schemas.openxmlformats.org/drawingml/2006/main">
              <a:ext uri="{FF2B5EF4-FFF2-40B4-BE49-F238E27FC236}">
                <a16:creationId xmlns:a16="http://schemas.microsoft.com/office/drawing/2014/main" id="{483D7642-DF8E-4CC8-B977-07DC54EA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19400"/>
            <a:ext cx="257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Prediction forces the model to store grammar, facts, and meaning in vectors.</a:t>
            </a:r>
          </a:p>
        </p:txBody>
      </p:sp>
      <p:sp>
        <p:nvSpPr>
          <p:cNvPr id="18" name="footer-source-16">
            <a:extLst xmlns:a="http://schemas.openxmlformats.org/drawingml/2006/main">
              <a:ext uri="{FF2B5EF4-FFF2-40B4-BE49-F238E27FC236}">
                <a16:creationId xmlns:a16="http://schemas.microsoft.com/office/drawing/2014/main" id="{D815DCFC-D9C4-4F03-A4D3-8BEB342B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Model: answerdotai/ModernBERT-base</a:t>
            </a:r>
          </a:p>
        </p:txBody>
      </p:sp>
      <p:sp>
        <p:nvSpPr>
          <p:cNvPr id="19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CA98DC11-AD9E-4E3E-8570-CC209AB0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560106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7">
            <a:extLst xmlns:a="http://schemas.openxmlformats.org/drawingml/2006/main">
              <a:ext uri="{FF2B5EF4-FFF2-40B4-BE49-F238E27FC236}">
                <a16:creationId xmlns:a16="http://schemas.microsoft.com/office/drawing/2014/main" id="{DB435750-DDCB-4E5A-8B20-A84C263C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Meaning Depends on Context</a:t>
            </a:r>
          </a:p>
        </p:txBody>
      </p:sp>
      <p:sp>
        <p:nvSpPr>
          <p:cNvPr id="2" name="subtitle-17">
            <a:extLst xmlns:a="http://schemas.openxmlformats.org/drawingml/2006/main">
              <a:ext uri="{FF2B5EF4-FFF2-40B4-BE49-F238E27FC236}">
                <a16:creationId xmlns:a16="http://schemas.microsoft.com/office/drawing/2014/main" id="{58525D76-457B-4CF0-990F-248D70AD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same word can get a different vector in a different sentence.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226A868-11A6-419A-8AD2-E8A29DD1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7">
            <a:extLst xmlns:a="http://schemas.openxmlformats.org/drawingml/2006/main">
              <a:ext uri="{FF2B5EF4-FFF2-40B4-BE49-F238E27FC236}">
                <a16:creationId xmlns:a16="http://schemas.microsoft.com/office/drawing/2014/main" id="{81EBB150-E5D1-44FE-B4AE-5E4ACF76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bank-left">
            <a:extLst xmlns:a="http://schemas.openxmlformats.org/drawingml/2006/main">
              <a:ext uri="{FF2B5EF4-FFF2-40B4-BE49-F238E27FC236}">
                <a16:creationId xmlns:a16="http://schemas.microsoft.com/office/drawing/2014/main" id="{91B0EAEF-F0F8-422E-8185-0ACCC643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3714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sp>
        <p:nvSpPr>
          <p:cNvPr id="6" name="bank-right">
            <a:extLst xmlns:a="http://schemas.openxmlformats.org/drawingml/2006/main">
              <a:ext uri="{FF2B5EF4-FFF2-40B4-BE49-F238E27FC236}">
                <a16:creationId xmlns:a16="http://schemas.microsoft.com/office/drawing/2014/main" id="{0B73F7EF-E9E2-44D0-80C8-667F9C7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3714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CA62B"/>
            </a:solidFill>
            <a:prstDash val="solid"/>
          </a:ln>
        </p:spPr>
      </p:sp>
      <p:sp>
        <p:nvSpPr>
          <p:cNvPr id="7" name="river-bank">
            <a:extLst xmlns:a="http://schemas.openxmlformats.org/drawingml/2006/main">
              <a:ext uri="{FF2B5EF4-FFF2-40B4-BE49-F238E27FC236}">
                <a16:creationId xmlns:a16="http://schemas.microsoft.com/office/drawing/2014/main" id="{5E4EDBC4-3482-45A8-A88B-951B8331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7180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river bank</a:t>
            </a:r>
          </a:p>
          <a:p xmlns:a="http://schemas.openxmlformats.org/drawingml/2006/main">
            <a:pPr algn="ctr">
              <a:defRPr sz="240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water, shore, fishing</a:t>
            </a:r>
          </a:p>
        </p:txBody>
      </p:sp>
      <p:sp>
        <p:nvSpPr>
          <p:cNvPr id="8" name="money-bank">
            <a:extLst xmlns:a="http://schemas.openxmlformats.org/drawingml/2006/main">
              <a:ext uri="{FF2B5EF4-FFF2-40B4-BE49-F238E27FC236}">
                <a16:creationId xmlns:a16="http://schemas.microsoft.com/office/drawing/2014/main" id="{16EA2D96-C4BC-4F9C-827A-F5AB8734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7180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bank account</a:t>
            </a:r>
          </a:p>
          <a:p xmlns:a="http://schemas.openxmlformats.org/drawingml/2006/main">
            <a:pPr algn="ctr">
              <a:defRPr sz="2400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money, teller, savings</a:t>
            </a:r>
          </a:p>
        </p:txBody>
      </p:sp>
      <p:sp>
        <p:nvSpPr>
          <p:cNvPr id="9" name="same-token">
            <a:extLst xmlns:a="http://schemas.openxmlformats.org/drawingml/2006/main">
              <a:ext uri="{FF2B5EF4-FFF2-40B4-BE49-F238E27FC236}">
                <a16:creationId xmlns:a16="http://schemas.microsoft.com/office/drawing/2014/main" id="{F7791E46-7F4C-4F63-8C4C-94F5103C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71800"/>
            <a:ext cx="2133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same token</a:t>
            </a:r>
          </a:p>
          <a:p xmlns:a="http://schemas.openxmlformats.org/drawingml/2006/main">
            <a:pPr algn="ctr">
              <a:defRPr sz="210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new context</a:t>
            </a:r>
          </a:p>
          <a:p xmlns:a="http://schemas.openxmlformats.org/drawingml/2006/main">
            <a:pPr algn="ctr">
              <a:defRPr sz="210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new vector</a:t>
            </a:r>
          </a:p>
        </p:txBody>
      </p:sp>
      <p:sp>
        <p:nvSpPr>
          <p:cNvPr id="10" name="footer-source-17">
            <a:extLst xmlns:a="http://schemas.openxmlformats.org/drawingml/2006/main">
              <a:ext uri="{FF2B5EF4-FFF2-40B4-BE49-F238E27FC236}">
                <a16:creationId xmlns:a16="http://schemas.microsoft.com/office/drawing/2014/main" id="{0E16F75E-A47F-4745-A63F-E8768DD9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532DE208-95C7-4CC6-8B97-AD0C4824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145061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8">
            <a:extLst xmlns:a="http://schemas.openxmlformats.org/drawingml/2006/main">
              <a:ext uri="{FF2B5EF4-FFF2-40B4-BE49-F238E27FC236}">
                <a16:creationId xmlns:a16="http://schemas.microsoft.com/office/drawing/2014/main" id="{22B03E5C-D6FD-4986-82BC-2376CAE4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Transformers Build Contextual Representations</a:t>
            </a:r>
          </a:p>
        </p:txBody>
      </p:sp>
      <p:sp>
        <p:nvSpPr>
          <p:cNvPr id="2" name="subtitle-18">
            <a:extLst xmlns:a="http://schemas.openxmlformats.org/drawingml/2006/main">
              <a:ext uri="{FF2B5EF4-FFF2-40B4-BE49-F238E27FC236}">
                <a16:creationId xmlns:a16="http://schemas.microsoft.com/office/drawing/2014/main" id="{526CF537-5F9E-42ED-8F1B-830C4493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Each layer updates vectors by comparing tokens with other tokens.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C9535F5-279D-4B08-AF5A-A7756BD5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8">
            <a:extLst xmlns:a="http://schemas.openxmlformats.org/drawingml/2006/main">
              <a:ext uri="{FF2B5EF4-FFF2-40B4-BE49-F238E27FC236}">
                <a16:creationId xmlns:a16="http://schemas.microsoft.com/office/drawing/2014/main" id="{C2D1FEE8-C7BD-49B7-AB4A-9C6AD08A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ok-box">
            <a:extLst xmlns:a="http://schemas.openxmlformats.org/drawingml/2006/main">
              <a:ext uri="{FF2B5EF4-FFF2-40B4-BE49-F238E27FC236}">
                <a16:creationId xmlns:a16="http://schemas.microsoft.com/office/drawing/2014/main" id="{96E47E26-E8C9-4520-8593-3269AA46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6" name="tok-text">
            <a:extLst xmlns:a="http://schemas.openxmlformats.org/drawingml/2006/main">
              <a:ext uri="{FF2B5EF4-FFF2-40B4-BE49-F238E27FC236}">
                <a16:creationId xmlns:a16="http://schemas.microsoft.com/office/drawing/2014/main" id="{70092FF6-B4F6-4156-AB9F-61E43378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71825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tokens</a:t>
            </a:r>
          </a:p>
        </p:txBody>
      </p:sp>
      <p:sp>
        <p:nvSpPr>
          <p:cNvPr id="7" name="vec-box">
            <a:extLst xmlns:a="http://schemas.openxmlformats.org/drawingml/2006/main">
              <a:ext uri="{FF2B5EF4-FFF2-40B4-BE49-F238E27FC236}">
                <a16:creationId xmlns:a16="http://schemas.microsoft.com/office/drawing/2014/main" id="{F588E688-8F8C-4E22-8CDF-0913ED5C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76550"/>
            <a:ext cx="1619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8" name="vec-text">
            <a:extLst xmlns:a="http://schemas.openxmlformats.org/drawingml/2006/main">
              <a:ext uri="{FF2B5EF4-FFF2-40B4-BE49-F238E27FC236}">
                <a16:creationId xmlns:a16="http://schemas.microsoft.com/office/drawing/2014/main" id="{819E2BC0-A1FD-42DB-BEF5-25CDBBE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71825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vectors</a:t>
            </a:r>
          </a:p>
        </p:txBody>
      </p:sp>
      <p:sp>
        <p:nvSpPr>
          <p:cNvPr id="9" name="layer-stack">
            <a:extLst xmlns:a="http://schemas.openxmlformats.org/drawingml/2006/main">
              <a:ext uri="{FF2B5EF4-FFF2-40B4-BE49-F238E27FC236}">
                <a16:creationId xmlns:a16="http://schemas.microsoft.com/office/drawing/2014/main" id="{55E59A75-444B-4BCF-8629-B41FB100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38400"/>
            <a:ext cx="2190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10" name="ctx-box">
            <a:extLst xmlns:a="http://schemas.openxmlformats.org/drawingml/2006/main">
              <a:ext uri="{FF2B5EF4-FFF2-40B4-BE49-F238E27FC236}">
                <a16:creationId xmlns:a16="http://schemas.microsoft.com/office/drawing/2014/main" id="{1F2A1F99-EF27-4C67-8A57-3E869963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7655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11" name="ctx-text">
            <a:extLst xmlns:a="http://schemas.openxmlformats.org/drawingml/2006/main">
              <a:ext uri="{FF2B5EF4-FFF2-40B4-BE49-F238E27FC236}">
                <a16:creationId xmlns:a16="http://schemas.microsoft.com/office/drawing/2014/main" id="{4DD2F47A-972E-4A9F-824E-820AC254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71825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contextual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vectors</a:t>
            </a:r>
          </a:p>
        </p:txBody>
      </p:sp>
      <p:cxnSp>
        <p:nvCxnSpPr>
          <p:cNvPr id="44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305050" y="33432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45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629150" y="3343275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4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600950" y="334327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5" name="tok-detail">
            <a:extLst xmlns:a="http://schemas.openxmlformats.org/drawingml/2006/main">
              <a:ext uri="{FF2B5EF4-FFF2-40B4-BE49-F238E27FC236}">
                <a16:creationId xmlns:a16="http://schemas.microsoft.com/office/drawing/2014/main" id="{1945D291-533B-4F72-8ABB-85B4094A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386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| protein | folds</a:t>
            </a:r>
          </a:p>
        </p:txBody>
      </p:sp>
      <p:sp>
        <p:nvSpPr>
          <p:cNvPr id="16" name="vec-bar-0">
            <a:extLst xmlns:a="http://schemas.openxmlformats.org/drawingml/2006/main">
              <a:ext uri="{FF2B5EF4-FFF2-40B4-BE49-F238E27FC236}">
                <a16:creationId xmlns:a16="http://schemas.microsoft.com/office/drawing/2014/main" id="{ACF9B0A3-F444-4F0D-BF6C-C0D8CFA5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57650"/>
            <a:ext cx="133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vec-bar-1">
            <a:extLst xmlns:a="http://schemas.openxmlformats.org/drawingml/2006/main">
              <a:ext uri="{FF2B5EF4-FFF2-40B4-BE49-F238E27FC236}">
                <a16:creationId xmlns:a16="http://schemas.microsoft.com/office/drawing/2014/main" id="{61296E9D-5B6B-4CF7-9C30-AAED2779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57650"/>
            <a:ext cx="13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vec-bar-2">
            <a:extLst xmlns:a="http://schemas.openxmlformats.org/drawingml/2006/main">
              <a:ext uri="{FF2B5EF4-FFF2-40B4-BE49-F238E27FC236}">
                <a16:creationId xmlns:a16="http://schemas.microsoft.com/office/drawing/2014/main" id="{77C0271F-E8A4-4E46-8AE9-3167C24B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57650"/>
            <a:ext cx="13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vec-bar-3">
            <a:extLst xmlns:a="http://schemas.openxmlformats.org/drawingml/2006/main">
              <a:ext uri="{FF2B5EF4-FFF2-40B4-BE49-F238E27FC236}">
                <a16:creationId xmlns:a16="http://schemas.microsoft.com/office/drawing/2014/main" id="{C5370839-F9EE-4743-A0CF-D5660580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5765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c-bar-4">
            <a:extLst xmlns:a="http://schemas.openxmlformats.org/drawingml/2006/main">
              <a:ext uri="{FF2B5EF4-FFF2-40B4-BE49-F238E27FC236}">
                <a16:creationId xmlns:a16="http://schemas.microsoft.com/office/drawing/2014/main" id="{23B4C7F0-2919-4558-94B7-DC644551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5765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vec-detail">
            <a:extLst xmlns:a="http://schemas.openxmlformats.org/drawingml/2006/main">
              <a:ext uri="{FF2B5EF4-FFF2-40B4-BE49-F238E27FC236}">
                <a16:creationId xmlns:a16="http://schemas.microsoft.com/office/drawing/2014/main" id="{5435E1C2-3876-4A15-A1AC-02C9B6B9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numbers for each token</a:t>
            </a:r>
          </a:p>
        </p:txBody>
      </p:sp>
      <p:sp>
        <p:nvSpPr>
          <p:cNvPr id="22" name="layer-title">
            <a:extLst xmlns:a="http://schemas.openxmlformats.org/drawingml/2006/main">
              <a:ext uri="{FF2B5EF4-FFF2-40B4-BE49-F238E27FC236}">
                <a16:creationId xmlns:a16="http://schemas.microsoft.com/office/drawing/2014/main" id="{5437FF88-5685-4AE3-9485-3E0B28D9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47950"/>
            <a:ext cx="169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repeated layer</a:t>
            </a:r>
          </a:p>
        </p:txBody>
      </p:sp>
      <p:sp>
        <p:nvSpPr>
          <p:cNvPr id="23" name="layer-compare">
            <a:extLst xmlns:a="http://schemas.openxmlformats.org/drawingml/2006/main">
              <a:ext uri="{FF2B5EF4-FFF2-40B4-BE49-F238E27FC236}">
                <a16:creationId xmlns:a16="http://schemas.microsoft.com/office/drawing/2014/main" id="{7712AF59-6B71-4986-97AE-852B1B4D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8610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C"/>
          </a:solidFill>
          <a:ln xmlns:a="http://schemas.openxmlformats.org/drawingml/2006/main" w="9525">
            <a:solidFill>
              <a:srgbClr val="6E5AEF"/>
            </a:solidFill>
            <a:prstDash val="solid"/>
          </a:ln>
        </p:spPr>
      </p:sp>
      <p:sp>
        <p:nvSpPr>
          <p:cNvPr id="24" name="layer-mix">
            <a:extLst xmlns:a="http://schemas.openxmlformats.org/drawingml/2006/main">
              <a:ext uri="{FF2B5EF4-FFF2-40B4-BE49-F238E27FC236}">
                <a16:creationId xmlns:a16="http://schemas.microsoft.com/office/drawing/2014/main" id="{BD872889-4377-4841-BD32-2A81E557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44805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C"/>
          </a:solidFill>
          <a:ln xmlns:a="http://schemas.openxmlformats.org/drawingml/2006/main" w="9525">
            <a:solidFill>
              <a:srgbClr val="6E5AEF"/>
            </a:solidFill>
            <a:prstDash val="solid"/>
          </a:ln>
        </p:spPr>
      </p:sp>
      <p:sp>
        <p:nvSpPr>
          <p:cNvPr id="25" name="layer-update">
            <a:extLst xmlns:a="http://schemas.openxmlformats.org/drawingml/2006/main">
              <a:ext uri="{FF2B5EF4-FFF2-40B4-BE49-F238E27FC236}">
                <a16:creationId xmlns:a16="http://schemas.microsoft.com/office/drawing/2014/main" id="{F0EA6C02-2C82-4FBB-8939-7A3F270B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81000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C"/>
          </a:solidFill>
          <a:ln xmlns:a="http://schemas.openxmlformats.org/drawingml/2006/main" w="9525">
            <a:solidFill>
              <a:srgbClr val="6E5AEF"/>
            </a:solidFill>
            <a:prstDash val="solid"/>
          </a:ln>
        </p:spPr>
      </p:sp>
      <p:sp>
        <p:nvSpPr>
          <p:cNvPr id="26" name="layer-compare-label">
            <a:extLst xmlns:a="http://schemas.openxmlformats.org/drawingml/2006/main">
              <a:ext uri="{FF2B5EF4-FFF2-40B4-BE49-F238E27FC236}">
                <a16:creationId xmlns:a16="http://schemas.microsoft.com/office/drawing/2014/main" id="{D3526E20-A181-42ED-8B71-728CB031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146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7" name="layer-mix-label">
            <a:extLst xmlns:a="http://schemas.openxmlformats.org/drawingml/2006/main">
              <a:ext uri="{FF2B5EF4-FFF2-40B4-BE49-F238E27FC236}">
                <a16:creationId xmlns:a16="http://schemas.microsoft.com/office/drawing/2014/main" id="{96048C14-125B-4359-A849-00B125AA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7662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mix</a:t>
            </a:r>
          </a:p>
        </p:txBody>
      </p:sp>
      <p:sp>
        <p:nvSpPr>
          <p:cNvPr id="28" name="layer-update-label">
            <a:extLst xmlns:a="http://schemas.openxmlformats.org/drawingml/2006/main">
              <a:ext uri="{FF2B5EF4-FFF2-40B4-BE49-F238E27FC236}">
                <a16:creationId xmlns:a16="http://schemas.microsoft.com/office/drawing/2014/main" id="{36D4C215-8299-4216-9E23-B31EF571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385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update</a:t>
            </a:r>
          </a:p>
        </p:txBody>
      </p:sp>
      <p:sp>
        <p:nvSpPr>
          <p:cNvPr id="29" name="ctx-detail">
            <a:extLst xmlns:a="http://schemas.openxmlformats.org/drawingml/2006/main">
              <a:ext uri="{FF2B5EF4-FFF2-40B4-BE49-F238E27FC236}">
                <a16:creationId xmlns:a16="http://schemas.microsoft.com/office/drawing/2014/main" id="{EE9DDFDE-365A-4149-94ED-4D911A5E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576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same tokens,</a:t>
            </a:r>
          </a:p>
          <a:p xmlns:a="http://schemas.openxmlformats.org/drawingml/2006/main">
            <a:pPr algn="ctr">
              <a:defRPr sz="1425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new vectors</a:t>
            </a:r>
          </a:p>
        </p:txBody>
      </p:sp>
      <p:sp>
        <p:nvSpPr>
          <p:cNvPr id="30" name="transformer-note">
            <a:extLst xmlns:a="http://schemas.openxmlformats.org/drawingml/2006/main">
              <a:ext uri="{FF2B5EF4-FFF2-40B4-BE49-F238E27FC236}">
                <a16:creationId xmlns:a16="http://schemas.microsoft.com/office/drawing/2014/main" id="{2708C55C-CC2E-4C52-A22F-80B468B6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7800"/>
            <a:ext cx="769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Stack enough layers and the vector for a word can carry sentence-level meaning.</a:t>
            </a:r>
          </a:p>
        </p:txBody>
      </p:sp>
      <p:sp>
        <p:nvSpPr>
          <p:cNvPr id="31" name="footer-source-18">
            <a:extLst xmlns:a="http://schemas.openxmlformats.org/drawingml/2006/main">
              <a:ext uri="{FF2B5EF4-FFF2-40B4-BE49-F238E27FC236}">
                <a16:creationId xmlns:a16="http://schemas.microsoft.com/office/drawing/2014/main" id="{80DC46FF-04DD-4E89-A6D1-D9582E90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2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C50A3FF9-BE9F-494F-8C25-165D1416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0679326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9">
            <a:extLst xmlns:a="http://schemas.openxmlformats.org/drawingml/2006/main">
              <a:ext uri="{FF2B5EF4-FFF2-40B4-BE49-F238E27FC236}">
                <a16:creationId xmlns:a16="http://schemas.microsoft.com/office/drawing/2014/main" id="{B1D3EE92-EF42-4E53-B148-8D2E98A4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Attention Is Similarity at Scale</a:t>
            </a:r>
          </a:p>
        </p:txBody>
      </p:sp>
      <p:sp>
        <p:nvSpPr>
          <p:cNvPr id="2" name="subtitle-19">
            <a:extLst xmlns:a="http://schemas.openxmlformats.org/drawingml/2006/main">
              <a:ext uri="{FF2B5EF4-FFF2-40B4-BE49-F238E27FC236}">
                <a16:creationId xmlns:a16="http://schemas.microsoft.com/office/drawing/2014/main" id="{506416D9-9EC1-4FA8-8566-7CC9316F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Tokens ask dot-product questions about other tokens.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D837F5BA-12AE-45C4-9471-5D101A09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19">
            <a:extLst xmlns:a="http://schemas.openxmlformats.org/drawingml/2006/main">
              <a:ext uri="{FF2B5EF4-FFF2-40B4-BE49-F238E27FC236}">
                <a16:creationId xmlns:a16="http://schemas.microsoft.com/office/drawing/2014/main" id="{5C7B0C83-39EA-4801-B549-5A48B594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tt-query">
            <a:extLst xmlns:a="http://schemas.openxmlformats.org/drawingml/2006/main">
              <a:ext uri="{FF2B5EF4-FFF2-40B4-BE49-F238E27FC236}">
                <a16:creationId xmlns:a16="http://schemas.microsoft.com/office/drawing/2014/main" id="{8AE3326D-CDFE-4CD4-A40C-EA4B0190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7645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query token</a:t>
            </a:r>
          </a:p>
        </p:txBody>
      </p:sp>
      <p:sp>
        <p:nvSpPr>
          <p:cNvPr id="6" name="att-key">
            <a:extLst xmlns:a="http://schemas.openxmlformats.org/drawingml/2006/main">
              <a:ext uri="{FF2B5EF4-FFF2-40B4-BE49-F238E27FC236}">
                <a16:creationId xmlns:a16="http://schemas.microsoft.com/office/drawing/2014/main" id="{C4AE8E24-293B-46FC-A260-715B7659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1104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tokens being compared</a:t>
            </a:r>
          </a:p>
        </p:txBody>
      </p:sp>
      <p:sp>
        <p:nvSpPr>
          <p:cNvPr id="7" name="att-col-0">
            <a:extLst xmlns:a="http://schemas.openxmlformats.org/drawingml/2006/main">
              <a:ext uri="{FF2B5EF4-FFF2-40B4-BE49-F238E27FC236}">
                <a16:creationId xmlns:a16="http://schemas.microsoft.com/office/drawing/2014/main" id="{98ED77FF-701F-42A6-B2A7-2173E11B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479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</a:t>
            </a:r>
          </a:p>
        </p:txBody>
      </p:sp>
      <p:sp>
        <p:nvSpPr>
          <p:cNvPr id="8" name="att-row-0">
            <a:extLst xmlns:a="http://schemas.openxmlformats.org/drawingml/2006/main">
              <a:ext uri="{FF2B5EF4-FFF2-40B4-BE49-F238E27FC236}">
                <a16:creationId xmlns:a16="http://schemas.microsoft.com/office/drawing/2014/main" id="{D40DBE28-0513-439C-9ABD-A90B27DE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432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the</a:t>
            </a:r>
          </a:p>
        </p:txBody>
      </p:sp>
      <p:sp>
        <p:nvSpPr>
          <p:cNvPr id="9" name="att-col-1">
            <a:extLst xmlns:a="http://schemas.openxmlformats.org/drawingml/2006/main">
              <a:ext uri="{FF2B5EF4-FFF2-40B4-BE49-F238E27FC236}">
                <a16:creationId xmlns:a16="http://schemas.microsoft.com/office/drawing/2014/main" id="{29F91BDF-3DD7-4C7F-9B0B-71556476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2479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</a:t>
            </a:r>
          </a:p>
        </p:txBody>
      </p:sp>
      <p:sp>
        <p:nvSpPr>
          <p:cNvPr id="10" name="att-row-1">
            <a:extLst xmlns:a="http://schemas.openxmlformats.org/drawingml/2006/main">
              <a:ext uri="{FF2B5EF4-FFF2-40B4-BE49-F238E27FC236}">
                <a16:creationId xmlns:a16="http://schemas.microsoft.com/office/drawing/2014/main" id="{2A15C901-F3FD-457E-BA8B-4FFDF2C4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</a:t>
            </a:r>
          </a:p>
        </p:txBody>
      </p:sp>
      <p:sp>
        <p:nvSpPr>
          <p:cNvPr id="11" name="att-col-2">
            <a:extLst xmlns:a="http://schemas.openxmlformats.org/drawingml/2006/main">
              <a:ext uri="{FF2B5EF4-FFF2-40B4-BE49-F238E27FC236}">
                <a16:creationId xmlns:a16="http://schemas.microsoft.com/office/drawing/2014/main" id="{C6F697BD-3DD9-45EB-A7DE-53AF286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479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folds</a:t>
            </a:r>
          </a:p>
        </p:txBody>
      </p:sp>
      <p:sp>
        <p:nvSpPr>
          <p:cNvPr id="12" name="att-row-2">
            <a:extLst xmlns:a="http://schemas.openxmlformats.org/drawingml/2006/main">
              <a:ext uri="{FF2B5EF4-FFF2-40B4-BE49-F238E27FC236}">
                <a16:creationId xmlns:a16="http://schemas.microsoft.com/office/drawing/2014/main" id="{727F0191-4F4E-42CB-8006-7C8DD007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folds</a:t>
            </a:r>
          </a:p>
        </p:txBody>
      </p:sp>
      <p:sp>
        <p:nvSpPr>
          <p:cNvPr id="13" name="att-col-3">
            <a:extLst xmlns:a="http://schemas.openxmlformats.org/drawingml/2006/main">
              <a:ext uri="{FF2B5EF4-FFF2-40B4-BE49-F238E27FC236}">
                <a16:creationId xmlns:a16="http://schemas.microsoft.com/office/drawing/2014/main" id="{7549F502-BB3A-489A-9479-0BFF60ED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479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into</a:t>
            </a:r>
          </a:p>
        </p:txBody>
      </p:sp>
      <p:sp>
        <p:nvSpPr>
          <p:cNvPr id="14" name="att-row-3">
            <a:extLst xmlns:a="http://schemas.openxmlformats.org/drawingml/2006/main">
              <a:ext uri="{FF2B5EF4-FFF2-40B4-BE49-F238E27FC236}">
                <a16:creationId xmlns:a16="http://schemas.microsoft.com/office/drawing/2014/main" id="{360EBB43-F0D9-4D6B-A557-36219C3D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29125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into</a:t>
            </a:r>
          </a:p>
        </p:txBody>
      </p:sp>
      <p:sp>
        <p:nvSpPr>
          <p:cNvPr id="15" name="att-col-4">
            <a:extLst xmlns:a="http://schemas.openxmlformats.org/drawingml/2006/main">
              <a:ext uri="{FF2B5EF4-FFF2-40B4-BE49-F238E27FC236}">
                <a16:creationId xmlns:a16="http://schemas.microsoft.com/office/drawing/2014/main" id="{3995D310-3088-4F12-95D3-4F92B686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479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16" name="att-row-4">
            <a:extLst xmlns:a="http://schemas.openxmlformats.org/drawingml/2006/main">
              <a:ext uri="{FF2B5EF4-FFF2-40B4-BE49-F238E27FC236}">
                <a16:creationId xmlns:a16="http://schemas.microsoft.com/office/drawing/2014/main" id="{F5784EE7-3943-4311-ACD3-502FCB97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911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17" name="att-col-5">
            <a:extLst xmlns:a="http://schemas.openxmlformats.org/drawingml/2006/main">
              <a:ext uri="{FF2B5EF4-FFF2-40B4-BE49-F238E27FC236}">
                <a16:creationId xmlns:a16="http://schemas.microsoft.com/office/drawing/2014/main" id="{7DF208C4-378A-43F6-8578-7E05BBF4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2479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helix</a:t>
            </a:r>
          </a:p>
        </p:txBody>
      </p:sp>
      <p:sp>
        <p:nvSpPr>
          <p:cNvPr id="18" name="att-row-5">
            <a:extLst xmlns:a="http://schemas.openxmlformats.org/drawingml/2006/main">
              <a:ext uri="{FF2B5EF4-FFF2-40B4-BE49-F238E27FC236}">
                <a16:creationId xmlns:a16="http://schemas.microsoft.com/office/drawing/2014/main" id="{61979DC4-8F1E-49AD-B18C-0607A8B7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helix</a:t>
            </a:r>
          </a:p>
        </p:txBody>
      </p:sp>
      <p:sp>
        <p:nvSpPr>
          <p:cNvPr id="19" name="att-cell-0-0">
            <a:extLst xmlns:a="http://schemas.openxmlformats.org/drawingml/2006/main">
              <a:ext uri="{FF2B5EF4-FFF2-40B4-BE49-F238E27FC236}">
                <a16:creationId xmlns:a16="http://schemas.microsoft.com/office/drawing/2014/main" id="{9EF1A018-2DCC-4401-8E18-6816927B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att-cell-0-1">
            <a:extLst xmlns:a="http://schemas.openxmlformats.org/drawingml/2006/main">
              <a:ext uri="{FF2B5EF4-FFF2-40B4-BE49-F238E27FC236}">
                <a16:creationId xmlns:a16="http://schemas.microsoft.com/office/drawing/2014/main" id="{18656A74-8D12-4CD2-95D1-E70C2E97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6098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att-cell-0-2">
            <a:extLst xmlns:a="http://schemas.openxmlformats.org/drawingml/2006/main">
              <a:ext uri="{FF2B5EF4-FFF2-40B4-BE49-F238E27FC236}">
                <a16:creationId xmlns:a16="http://schemas.microsoft.com/office/drawing/2014/main" id="{F981B256-C395-4F0D-9364-457FCB2D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098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att-cell-0-3">
            <a:extLst xmlns:a="http://schemas.openxmlformats.org/drawingml/2006/main">
              <a:ext uri="{FF2B5EF4-FFF2-40B4-BE49-F238E27FC236}">
                <a16:creationId xmlns:a16="http://schemas.microsoft.com/office/drawing/2014/main" id="{D7079BE8-D254-4BD7-8272-C7F6BA6A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098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att-cell-0-4">
            <a:extLst xmlns:a="http://schemas.openxmlformats.org/drawingml/2006/main">
              <a:ext uri="{FF2B5EF4-FFF2-40B4-BE49-F238E27FC236}">
                <a16:creationId xmlns:a16="http://schemas.microsoft.com/office/drawing/2014/main" id="{DB76E7CE-9FBF-4743-B26B-DB986143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098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att-cell-0-5">
            <a:extLst xmlns:a="http://schemas.openxmlformats.org/drawingml/2006/main">
              <a:ext uri="{FF2B5EF4-FFF2-40B4-BE49-F238E27FC236}">
                <a16:creationId xmlns:a16="http://schemas.microsoft.com/office/drawing/2014/main" id="{35D677DA-7A13-48F4-A3BB-20C594AD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6098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att-cell-1-0">
            <a:extLst xmlns:a="http://schemas.openxmlformats.org/drawingml/2006/main">
              <a:ext uri="{FF2B5EF4-FFF2-40B4-BE49-F238E27FC236}">
                <a16:creationId xmlns:a16="http://schemas.microsoft.com/office/drawing/2014/main" id="{5F4136F7-FFD9-4FF6-A592-EF03DCA7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1718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att-cell-1-1">
            <a:extLst xmlns:a="http://schemas.openxmlformats.org/drawingml/2006/main">
              <a:ext uri="{FF2B5EF4-FFF2-40B4-BE49-F238E27FC236}">
                <a16:creationId xmlns:a16="http://schemas.microsoft.com/office/drawing/2014/main" id="{51A6B7AC-23F1-4B37-BCF1-3FD0DB3D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1718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att-cell-1-2">
            <a:extLst xmlns:a="http://schemas.openxmlformats.org/drawingml/2006/main">
              <a:ext uri="{FF2B5EF4-FFF2-40B4-BE49-F238E27FC236}">
                <a16:creationId xmlns:a16="http://schemas.microsoft.com/office/drawing/2014/main" id="{947107EF-F8E3-4350-8CF8-CCF53BD3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718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att-cell-1-3">
            <a:extLst xmlns:a="http://schemas.openxmlformats.org/drawingml/2006/main">
              <a:ext uri="{FF2B5EF4-FFF2-40B4-BE49-F238E27FC236}">
                <a16:creationId xmlns:a16="http://schemas.microsoft.com/office/drawing/2014/main" id="{45B0E21A-1E15-419D-9439-D53C5CF6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718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att-cell-1-4">
            <a:extLst xmlns:a="http://schemas.openxmlformats.org/drawingml/2006/main">
              <a:ext uri="{FF2B5EF4-FFF2-40B4-BE49-F238E27FC236}">
                <a16:creationId xmlns:a16="http://schemas.microsoft.com/office/drawing/2014/main" id="{B5FDC4DC-C747-4A48-84D3-3FA36CA2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718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att-cell-1-5">
            <a:extLst xmlns:a="http://schemas.openxmlformats.org/drawingml/2006/main">
              <a:ext uri="{FF2B5EF4-FFF2-40B4-BE49-F238E27FC236}">
                <a16:creationId xmlns:a16="http://schemas.microsoft.com/office/drawing/2014/main" id="{4FA341FE-67D1-4E2E-9BE7-28566F1F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718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att-cell-2-0">
            <a:extLst xmlns:a="http://schemas.openxmlformats.org/drawingml/2006/main">
              <a:ext uri="{FF2B5EF4-FFF2-40B4-BE49-F238E27FC236}">
                <a16:creationId xmlns:a16="http://schemas.microsoft.com/office/drawing/2014/main" id="{CE333D0C-EC4F-494A-9AAF-6E4A7E07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33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att-cell-2-1">
            <a:extLst xmlns:a="http://schemas.openxmlformats.org/drawingml/2006/main">
              <a:ext uri="{FF2B5EF4-FFF2-40B4-BE49-F238E27FC236}">
                <a16:creationId xmlns:a16="http://schemas.microsoft.com/office/drawing/2014/main" id="{C78B3FAF-DBE8-4498-96CC-3716E581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733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att-cell-2-2">
            <a:extLst xmlns:a="http://schemas.openxmlformats.org/drawingml/2006/main">
              <a:ext uri="{FF2B5EF4-FFF2-40B4-BE49-F238E27FC236}">
                <a16:creationId xmlns:a16="http://schemas.microsoft.com/office/drawing/2014/main" id="{F7E56997-1273-4558-A7E9-44079CB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733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att-cell-2-3">
            <a:extLst xmlns:a="http://schemas.openxmlformats.org/drawingml/2006/main">
              <a:ext uri="{FF2B5EF4-FFF2-40B4-BE49-F238E27FC236}">
                <a16:creationId xmlns:a16="http://schemas.microsoft.com/office/drawing/2014/main" id="{E7638EA3-4DBB-4ED0-AB4A-362B8978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733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att-cell-2-4">
            <a:extLst xmlns:a="http://schemas.openxmlformats.org/drawingml/2006/main">
              <a:ext uri="{FF2B5EF4-FFF2-40B4-BE49-F238E27FC236}">
                <a16:creationId xmlns:a16="http://schemas.microsoft.com/office/drawing/2014/main" id="{41E0B6A4-7D94-4AA3-ADBE-8858635B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733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att-cell-2-5">
            <a:extLst xmlns:a="http://schemas.openxmlformats.org/drawingml/2006/main">
              <a:ext uri="{FF2B5EF4-FFF2-40B4-BE49-F238E27FC236}">
                <a16:creationId xmlns:a16="http://schemas.microsoft.com/office/drawing/2014/main" id="{04635B47-C874-4CB0-A81A-67702885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733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att-cell-3-0">
            <a:extLst xmlns:a="http://schemas.openxmlformats.org/drawingml/2006/main">
              <a:ext uri="{FF2B5EF4-FFF2-40B4-BE49-F238E27FC236}">
                <a16:creationId xmlns:a16="http://schemas.microsoft.com/office/drawing/2014/main" id="{D12309FD-13BB-4822-9D0B-2242733B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957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att-cell-3-1">
            <a:extLst xmlns:a="http://schemas.openxmlformats.org/drawingml/2006/main">
              <a:ext uri="{FF2B5EF4-FFF2-40B4-BE49-F238E27FC236}">
                <a16:creationId xmlns:a16="http://schemas.microsoft.com/office/drawing/2014/main" id="{60DA231E-AE21-4BD2-87A4-54ECD2A9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2957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att-cell-3-2">
            <a:extLst xmlns:a="http://schemas.openxmlformats.org/drawingml/2006/main">
              <a:ext uri="{FF2B5EF4-FFF2-40B4-BE49-F238E27FC236}">
                <a16:creationId xmlns:a16="http://schemas.microsoft.com/office/drawing/2014/main" id="{934C9AA2-8BCD-4BC4-9524-DF015FD9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2957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att-cell-3-3">
            <a:extLst xmlns:a="http://schemas.openxmlformats.org/drawingml/2006/main">
              <a:ext uri="{FF2B5EF4-FFF2-40B4-BE49-F238E27FC236}">
                <a16:creationId xmlns:a16="http://schemas.microsoft.com/office/drawing/2014/main" id="{0FEB6A16-379B-47E7-9539-FE3BEE6E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2957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att-cell-3-4">
            <a:extLst xmlns:a="http://schemas.openxmlformats.org/drawingml/2006/main">
              <a:ext uri="{FF2B5EF4-FFF2-40B4-BE49-F238E27FC236}">
                <a16:creationId xmlns:a16="http://schemas.microsoft.com/office/drawing/2014/main" id="{C9F57DE9-5F8C-4B68-B5F6-5D607FE5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957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att-cell-3-5">
            <a:extLst xmlns:a="http://schemas.openxmlformats.org/drawingml/2006/main">
              <a:ext uri="{FF2B5EF4-FFF2-40B4-BE49-F238E27FC236}">
                <a16:creationId xmlns:a16="http://schemas.microsoft.com/office/drawing/2014/main" id="{62F1F56B-3DBE-4061-A172-31901F28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957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att-cell-4-0">
            <a:extLst xmlns:a="http://schemas.openxmlformats.org/drawingml/2006/main">
              <a:ext uri="{FF2B5EF4-FFF2-40B4-BE49-F238E27FC236}">
                <a16:creationId xmlns:a16="http://schemas.microsoft.com/office/drawing/2014/main" id="{0E8C306F-005A-4A2C-9F6E-B39CDA68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577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att-cell-4-1">
            <a:extLst xmlns:a="http://schemas.openxmlformats.org/drawingml/2006/main">
              <a:ext uri="{FF2B5EF4-FFF2-40B4-BE49-F238E27FC236}">
                <a16:creationId xmlns:a16="http://schemas.microsoft.com/office/drawing/2014/main" id="{B3ACB3B3-9A9F-4A25-B59F-97EF476E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8577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att-cell-4-2">
            <a:extLst xmlns:a="http://schemas.openxmlformats.org/drawingml/2006/main">
              <a:ext uri="{FF2B5EF4-FFF2-40B4-BE49-F238E27FC236}">
                <a16:creationId xmlns:a16="http://schemas.microsoft.com/office/drawing/2014/main" id="{94C271C3-6C7D-4113-9BC9-9A8A64C2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8577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att-cell-4-3">
            <a:extLst xmlns:a="http://schemas.openxmlformats.org/drawingml/2006/main">
              <a:ext uri="{FF2B5EF4-FFF2-40B4-BE49-F238E27FC236}">
                <a16:creationId xmlns:a16="http://schemas.microsoft.com/office/drawing/2014/main" id="{915B175E-6122-4E1B-99F2-9E451EDC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577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att-cell-4-4">
            <a:extLst xmlns:a="http://schemas.openxmlformats.org/drawingml/2006/main">
              <a:ext uri="{FF2B5EF4-FFF2-40B4-BE49-F238E27FC236}">
                <a16:creationId xmlns:a16="http://schemas.microsoft.com/office/drawing/2014/main" id="{5EA35C1A-5D2C-40D8-9F03-99A20C3E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8577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att-cell-4-5">
            <a:extLst xmlns:a="http://schemas.openxmlformats.org/drawingml/2006/main">
              <a:ext uri="{FF2B5EF4-FFF2-40B4-BE49-F238E27FC236}">
                <a16:creationId xmlns:a16="http://schemas.microsoft.com/office/drawing/2014/main" id="{7DA4934C-57E0-4731-B8C8-BECFC031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8577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att-cell-5-0">
            <a:extLst xmlns:a="http://schemas.openxmlformats.org/drawingml/2006/main">
              <a:ext uri="{FF2B5EF4-FFF2-40B4-BE49-F238E27FC236}">
                <a16:creationId xmlns:a16="http://schemas.microsoft.com/office/drawing/2014/main" id="{F0E859FF-1DD4-4FEA-BC14-14D8EA19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att-cell-5-1">
            <a:extLst xmlns:a="http://schemas.openxmlformats.org/drawingml/2006/main">
              <a:ext uri="{FF2B5EF4-FFF2-40B4-BE49-F238E27FC236}">
                <a16:creationId xmlns:a16="http://schemas.microsoft.com/office/drawing/2014/main" id="{D9F1DDA3-115D-4263-8C85-8C5DAF4D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54197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att-cell-5-2">
            <a:extLst xmlns:a="http://schemas.openxmlformats.org/drawingml/2006/main">
              <a:ext uri="{FF2B5EF4-FFF2-40B4-BE49-F238E27FC236}">
                <a16:creationId xmlns:a16="http://schemas.microsoft.com/office/drawing/2014/main" id="{3153F49A-AADE-4865-B885-18558183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4197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D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att-cell-5-3">
            <a:extLst xmlns:a="http://schemas.openxmlformats.org/drawingml/2006/main">
              <a:ext uri="{FF2B5EF4-FFF2-40B4-BE49-F238E27FC236}">
                <a16:creationId xmlns:a16="http://schemas.microsoft.com/office/drawing/2014/main" id="{6B59D7CC-85AC-47FB-B873-DB4B0AA0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197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62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att-cell-5-4">
            <a:extLst xmlns:a="http://schemas.openxmlformats.org/drawingml/2006/main">
              <a:ext uri="{FF2B5EF4-FFF2-40B4-BE49-F238E27FC236}">
                <a16:creationId xmlns:a16="http://schemas.microsoft.com/office/drawing/2014/main" id="{5525CC11-F3FE-478D-A349-0293979D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4197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att-cell-5-5">
            <a:extLst xmlns:a="http://schemas.openxmlformats.org/drawingml/2006/main">
              <a:ext uri="{FF2B5EF4-FFF2-40B4-BE49-F238E27FC236}">
                <a16:creationId xmlns:a16="http://schemas.microsoft.com/office/drawing/2014/main" id="{4ACC2605-6F6F-4973-9505-02A992AF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4197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att-legend-low">
            <a:extLst xmlns:a="http://schemas.openxmlformats.org/drawingml/2006/main">
              <a:ext uri="{FF2B5EF4-FFF2-40B4-BE49-F238E27FC236}">
                <a16:creationId xmlns:a16="http://schemas.microsoft.com/office/drawing/2014/main" id="{5A154F58-27D1-4CDB-B558-91A33081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6096000"/>
            <a:ext cx="438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E4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56" name="att-legend-mid">
            <a:extLst xmlns:a="http://schemas.openxmlformats.org/drawingml/2006/main">
              <a:ext uri="{FF2B5EF4-FFF2-40B4-BE49-F238E27FC236}">
                <a16:creationId xmlns:a16="http://schemas.microsoft.com/office/drawing/2014/main" id="{6118ACDF-1F25-4559-8E23-67745674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6096000"/>
            <a:ext cx="438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att-legend-high">
            <a:extLst xmlns:a="http://schemas.openxmlformats.org/drawingml/2006/main">
              <a:ext uri="{FF2B5EF4-FFF2-40B4-BE49-F238E27FC236}">
                <a16:creationId xmlns:a16="http://schemas.microsoft.com/office/drawing/2014/main" id="{15BEEE5A-8DE5-4786-9E94-EF2C775D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6096000"/>
            <a:ext cx="438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A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att-legend-text">
            <a:extLst xmlns:a="http://schemas.openxmlformats.org/drawingml/2006/main">
              <a:ext uri="{FF2B5EF4-FFF2-40B4-BE49-F238E27FC236}">
                <a16:creationId xmlns:a16="http://schemas.microsoft.com/office/drawing/2014/main" id="{DA8FC11C-2736-40F5-BD80-7A1C52C5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057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weak -&gt; strong similarity</a:t>
            </a:r>
          </a:p>
        </p:txBody>
      </p:sp>
      <p:sp>
        <p:nvSpPr>
          <p:cNvPr id="59" name="att-explain-panel">
            <a:extLst xmlns:a="http://schemas.openxmlformats.org/drawingml/2006/main">
              <a:ext uri="{FF2B5EF4-FFF2-40B4-BE49-F238E27FC236}">
                <a16:creationId xmlns:a16="http://schemas.microsoft.com/office/drawing/2014/main" id="{854FC931-EB94-4FFF-B41E-73EE0E49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47900"/>
            <a:ext cx="37147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E5AEF"/>
            </a:solidFill>
            <a:prstDash val="solid"/>
          </a:ln>
        </p:spPr>
      </p:sp>
      <p:sp>
        <p:nvSpPr>
          <p:cNvPr id="60" name="att-explain-title">
            <a:extLst xmlns:a="http://schemas.openxmlformats.org/drawingml/2006/main">
              <a:ext uri="{FF2B5EF4-FFF2-40B4-BE49-F238E27FC236}">
                <a16:creationId xmlns:a16="http://schemas.microsoft.com/office/drawing/2014/main" id="{09CB71F2-79AC-427D-9545-171C74C2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908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A layer does this many times</a:t>
            </a:r>
          </a:p>
        </p:txBody>
      </p:sp>
      <p:sp>
        <p:nvSpPr>
          <p:cNvPr id="61" name="att-explain-copy">
            <a:extLst xmlns:a="http://schemas.openxmlformats.org/drawingml/2006/main">
              <a:ext uri="{FF2B5EF4-FFF2-40B4-BE49-F238E27FC236}">
                <a16:creationId xmlns:a16="http://schemas.microsoft.com/office/drawing/2014/main" id="{A571AFFB-CA44-4075-9161-CDF7959A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2857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1. compare token vectors</a:t>
            </a:r>
          </a:p>
          <a:p xmlns:a="http://schemas.openxmlformats.org/drawingml/2006/main">
            <a:pPr algn="l">
              <a:defRPr sz="16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2. turn scores into weights</a:t>
            </a:r>
          </a:p>
          <a:p xmlns:a="http://schemas.openxmlformats.org/drawingml/2006/main">
            <a:pPr algn="l">
              <a:defRPr sz="1650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3. mix information into a new vector</a:t>
            </a:r>
          </a:p>
        </p:txBody>
      </p:sp>
      <p:sp>
        <p:nvSpPr>
          <p:cNvPr id="62" name="att-explain-foot">
            <a:extLst xmlns:a="http://schemas.openxmlformats.org/drawingml/2006/main">
              <a:ext uri="{FF2B5EF4-FFF2-40B4-BE49-F238E27FC236}">
                <a16:creationId xmlns:a16="http://schemas.microsoft.com/office/drawing/2014/main" id="{CA0C7CC9-C879-4AF7-BB36-1D97823C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720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dot product becomes a whole table of comparisons.</a:t>
            </a:r>
          </a:p>
        </p:txBody>
      </p:sp>
      <p:sp>
        <p:nvSpPr>
          <p:cNvPr id="63" name="footer-source-19">
            <a:extLst xmlns:a="http://schemas.openxmlformats.org/drawingml/2006/main">
              <a:ext uri="{FF2B5EF4-FFF2-40B4-BE49-F238E27FC236}">
                <a16:creationId xmlns:a16="http://schemas.microsoft.com/office/drawing/2014/main" id="{3A23DF6A-BFAD-430B-90F2-D4BE3F71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4" name="footer-page-19">
            <a:extLst xmlns:a="http://schemas.openxmlformats.org/drawingml/2006/main">
              <a:ext uri="{FF2B5EF4-FFF2-40B4-BE49-F238E27FC236}">
                <a16:creationId xmlns:a16="http://schemas.microsoft.com/office/drawing/2014/main" id="{BB645265-D756-45BA-AEC5-FDAD0E8B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230137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0">
            <a:extLst xmlns:a="http://schemas.openxmlformats.org/drawingml/2006/main">
              <a:ext uri="{FF2B5EF4-FFF2-40B4-BE49-F238E27FC236}">
                <a16:creationId xmlns:a16="http://schemas.microsoft.com/office/drawing/2014/main" id="{543E6079-820D-44E4-9332-F6756A3D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Proteins Are Sequences Too</a:t>
            </a:r>
          </a:p>
        </p:txBody>
      </p:sp>
      <p:sp>
        <p:nvSpPr>
          <p:cNvPr id="2" name="subtitle-20">
            <a:extLst xmlns:a="http://schemas.openxmlformats.org/drawingml/2006/main">
              <a:ext uri="{FF2B5EF4-FFF2-40B4-BE49-F238E27FC236}">
                <a16:creationId xmlns:a16="http://schemas.microsoft.com/office/drawing/2014/main" id="{7E449E4B-B36B-455A-BD7A-D7603F63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Protein language models apply the same representation idea to amino acid strings.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85511D6-DA49-4070-A6B9-37CACB82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20">
            <a:extLst xmlns:a="http://schemas.openxmlformats.org/drawingml/2006/main">
              <a:ext uri="{FF2B5EF4-FFF2-40B4-BE49-F238E27FC236}">
                <a16:creationId xmlns:a16="http://schemas.microsoft.com/office/drawing/2014/main" id="{ED1ACEE3-5DF2-458B-A303-E224D40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bd4c1fa2846ac"/>
          <a:srcRect xmlns:a="http://schemas.openxmlformats.org/drawingml/2006/main" l="13584" t="0" r="135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790700"/>
            <a:ext cx="6286500" cy="4857750"/>
          </a:xfrm>
          <a:prstGeom xmlns:a="http://schemas.openxmlformats.org/drawingml/2006/main" prst="rect">
            <a:avLst/>
          </a:prstGeom>
        </p:spPr>
      </p:pic>
      <p:sp>
        <p:nvSpPr>
          <p:cNvPr id="6" name="protein-sequence">
            <a:extLst xmlns:a="http://schemas.openxmlformats.org/drawingml/2006/main">
              <a:ext uri="{FF2B5EF4-FFF2-40B4-BE49-F238E27FC236}">
                <a16:creationId xmlns:a16="http://schemas.microsoft.com/office/drawing/2014/main" id="{50B07386-3B3E-4B68-83CA-BFA67304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MKTAYIAKQRQISFVKSHFSRQ</a:t>
            </a:r>
          </a:p>
        </p:txBody>
      </p:sp>
      <p:sp>
        <p:nvSpPr>
          <p:cNvPr id="7" name="protein-copy">
            <a:extLst xmlns:a="http://schemas.openxmlformats.org/drawingml/2006/main">
              <a:ext uri="{FF2B5EF4-FFF2-40B4-BE49-F238E27FC236}">
                <a16:creationId xmlns:a16="http://schemas.microsoft.com/office/drawing/2014/main" id="{4FC08B06-E6D2-430F-9D9D-A513FC3E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01C"/>
                </a:solidFill>
                <a:latin typeface="Aptos"/>
                <a:ea typeface="Aptos"/>
                <a:cs typeface="Aptos"/>
              </a:rPr>
              <a:t>Amino acids are symbols. A protein language model turns a sequence into vectors for residues, domains, or the whole protein.</a:t>
            </a:r>
          </a:p>
        </p:txBody>
      </p:sp>
      <p:sp>
        <p:nvSpPr>
          <p:cNvPr id="8" name="footer-source-20">
            <a:extLst xmlns:a="http://schemas.openxmlformats.org/drawingml/2006/main">
              <a:ext uri="{FF2B5EF4-FFF2-40B4-BE49-F238E27FC236}">
                <a16:creationId xmlns:a16="http://schemas.microsoft.com/office/drawing/2014/main" id="{1FC222D3-6503-4C62-8EB2-83AF994A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Protein language model examples: ProtTrans and ESM literature</a:t>
            </a:r>
          </a:p>
        </p:txBody>
      </p:sp>
      <p:sp>
        <p:nvSpPr>
          <p:cNvPr id="9" name="footer-page-20">
            <a:extLst xmlns:a="http://schemas.openxmlformats.org/drawingml/2006/main">
              <a:ext uri="{FF2B5EF4-FFF2-40B4-BE49-F238E27FC236}">
                <a16:creationId xmlns:a16="http://schemas.microsoft.com/office/drawing/2014/main" id="{FEF514BD-E473-42CB-9384-07629C70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6652481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1">
            <a:extLst xmlns:a="http://schemas.openxmlformats.org/drawingml/2006/main">
              <a:ext uri="{FF2B5EF4-FFF2-40B4-BE49-F238E27FC236}">
                <a16:creationId xmlns:a16="http://schemas.microsoft.com/office/drawing/2014/main" id="{D6A5AE01-21BF-4173-93DC-64E1C13B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 Models Learn from Sequence</a:t>
            </a:r>
          </a:p>
        </p:txBody>
      </p:sp>
      <p:sp>
        <p:nvSpPr>
          <p:cNvPr id="2" name="subtitle-21">
            <a:extLst xmlns:a="http://schemas.openxmlformats.org/drawingml/2006/main">
              <a:ext uri="{FF2B5EF4-FFF2-40B4-BE49-F238E27FC236}">
                <a16:creationId xmlns:a16="http://schemas.microsoft.com/office/drawing/2014/main" id="{3DE783EC-B144-4D30-ABC6-D03F947D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Prediction over millions of sequences can reveal functional patterns.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059D6341-D9D8-4CA3-A3AE-BE1748AC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21">
            <a:extLst xmlns:a="http://schemas.openxmlformats.org/drawingml/2006/main">
              <a:ext uri="{FF2B5EF4-FFF2-40B4-BE49-F238E27FC236}">
                <a16:creationId xmlns:a16="http://schemas.microsoft.com/office/drawing/2014/main" id="{C386BE40-43C4-4553-8B80-28B5E2AC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eq-box">
            <a:extLst xmlns:a="http://schemas.openxmlformats.org/drawingml/2006/main">
              <a:ext uri="{FF2B5EF4-FFF2-40B4-BE49-F238E27FC236}">
                <a16:creationId xmlns:a16="http://schemas.microsoft.com/office/drawing/2014/main" id="{D58BC33D-A8E0-47C2-935C-321840E6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619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6" name="seq-text">
            <a:extLst xmlns:a="http://schemas.openxmlformats.org/drawingml/2006/main">
              <a:ext uri="{FF2B5EF4-FFF2-40B4-BE49-F238E27FC236}">
                <a16:creationId xmlns:a16="http://schemas.microsoft.com/office/drawing/2014/main" id="{594B08DA-FF03-4B62-9C7B-444C2FE6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sequence</a:t>
            </a:r>
          </a:p>
        </p:txBody>
      </p:sp>
      <p:sp>
        <p:nvSpPr>
          <p:cNvPr id="7" name="plm-box">
            <a:extLst xmlns:a="http://schemas.openxmlformats.org/drawingml/2006/main">
              <a:ext uri="{FF2B5EF4-FFF2-40B4-BE49-F238E27FC236}">
                <a16:creationId xmlns:a16="http://schemas.microsoft.com/office/drawing/2014/main" id="{D5CD967F-55BA-4B71-9638-F16ED8E6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86050"/>
            <a:ext cx="2190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8" name="plm-text">
            <a:extLst xmlns:a="http://schemas.openxmlformats.org/drawingml/2006/main">
              <a:ext uri="{FF2B5EF4-FFF2-40B4-BE49-F238E27FC236}">
                <a16:creationId xmlns:a16="http://schemas.microsoft.com/office/drawing/2014/main" id="{3D335E29-6139-4B2A-945E-BBDF924D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0515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language model</a:t>
            </a:r>
          </a:p>
        </p:txBody>
      </p:sp>
      <p:sp>
        <p:nvSpPr>
          <p:cNvPr id="9" name="embed-prot-box">
            <a:extLst xmlns:a="http://schemas.openxmlformats.org/drawingml/2006/main">
              <a:ext uri="{FF2B5EF4-FFF2-40B4-BE49-F238E27FC236}">
                <a16:creationId xmlns:a16="http://schemas.microsoft.com/office/drawing/2014/main" id="{BF6CAA21-B724-4A0B-BD3B-ACEA7C8C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76550"/>
            <a:ext cx="1619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10" name="embed-prot-text">
            <a:extLst xmlns:a="http://schemas.openxmlformats.org/drawingml/2006/main">
              <a:ext uri="{FF2B5EF4-FFF2-40B4-BE49-F238E27FC236}">
                <a16:creationId xmlns:a16="http://schemas.microsoft.com/office/drawing/2014/main" id="{5798F135-66C0-4C49-A1EC-A89BFA1D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embedding</a:t>
            </a:r>
          </a:p>
        </p:txBody>
      </p:sp>
      <p:sp>
        <p:nvSpPr>
          <p:cNvPr id="11" name="tasks-box">
            <a:extLst xmlns:a="http://schemas.openxmlformats.org/drawingml/2006/main">
              <a:ext uri="{FF2B5EF4-FFF2-40B4-BE49-F238E27FC236}">
                <a16:creationId xmlns:a16="http://schemas.microsoft.com/office/drawing/2014/main" id="{75C652AB-ADF6-4A5A-BDB2-7A3B445D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71750"/>
            <a:ext cx="209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12" name="tasks-text">
            <a:extLst xmlns:a="http://schemas.openxmlformats.org/drawingml/2006/main">
              <a:ext uri="{FF2B5EF4-FFF2-40B4-BE49-F238E27FC236}">
                <a16:creationId xmlns:a16="http://schemas.microsoft.com/office/drawing/2014/main" id="{8B6116FD-658B-42A3-8264-F76E281B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14675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annotation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search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514600" y="3276600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486400" y="3276600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905750" y="3276600"/>
            <a:ext cx="8001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6" name="plm-copy">
            <a:extLst xmlns:a="http://schemas.openxmlformats.org/drawingml/2006/main">
              <a:ext uri="{FF2B5EF4-FFF2-40B4-BE49-F238E27FC236}">
                <a16:creationId xmlns:a16="http://schemas.microsoft.com/office/drawing/2014/main" id="{0706F7EE-C207-4994-BDA0-6385C626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model is not given a hand-written biology dictionary. It learns useful coordinates from patterns in sequences.</a:t>
            </a:r>
          </a:p>
        </p:txBody>
      </p:sp>
      <p:sp>
        <p:nvSpPr>
          <p:cNvPr id="17" name="footer-source-21">
            <a:extLst xmlns:a="http://schemas.openxmlformats.org/drawingml/2006/main">
              <a:ext uri="{FF2B5EF4-FFF2-40B4-BE49-F238E27FC236}">
                <a16:creationId xmlns:a16="http://schemas.microsoft.com/office/drawing/2014/main" id="{76B4551A-29EA-43D4-AE15-56C9106E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Sources: ProtTrans arXiv:2007.06225; ESM protein language model literature</a:t>
            </a:r>
          </a:p>
        </p:txBody>
      </p:sp>
      <p:sp>
        <p:nvSpPr>
          <p:cNvPr id="18" name="footer-page-21">
            <a:extLst xmlns:a="http://schemas.openxmlformats.org/drawingml/2006/main">
              <a:ext uri="{FF2B5EF4-FFF2-40B4-BE49-F238E27FC236}">
                <a16:creationId xmlns:a16="http://schemas.microsoft.com/office/drawing/2014/main" id="{193CB0CB-4554-477F-92C1-59936AA2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11811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2">
            <a:extLst xmlns:a="http://schemas.openxmlformats.org/drawingml/2006/main">
              <a:ext uri="{FF2B5EF4-FFF2-40B4-BE49-F238E27FC236}">
                <a16:creationId xmlns:a16="http://schemas.microsoft.com/office/drawing/2014/main" id="{B4B0FF6F-C0C3-4967-A7D8-6D6F1AAE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Live Demo: Sequence to Neighbors, Function, Design</a:t>
            </a:r>
          </a:p>
        </p:txBody>
      </p:sp>
      <p:sp>
        <p:nvSpPr>
          <p:cNvPr id="2" name="subtitle-22">
            <a:extLst xmlns:a="http://schemas.openxmlformats.org/drawingml/2006/main">
              <a:ext uri="{FF2B5EF4-FFF2-40B4-BE49-F238E27FC236}">
                <a16:creationId xmlns:a16="http://schemas.microsoft.com/office/drawing/2014/main" id="{59D1FFA5-77D5-4F33-819B-59B9946F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demo connects the math to a real protein-model workflow.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E5C855B-F9E7-4928-94AB-A200AB4B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22">
            <a:extLst xmlns:a="http://schemas.openxmlformats.org/drawingml/2006/main">
              <a:ext uri="{FF2B5EF4-FFF2-40B4-BE49-F238E27FC236}">
                <a16:creationId xmlns:a16="http://schemas.microsoft.com/office/drawing/2014/main" id="{26B8BFEA-7CF1-40CB-9C2C-9925AFE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mo-input-box">
            <a:extLst xmlns:a="http://schemas.openxmlformats.org/drawingml/2006/main">
              <a:ext uri="{FF2B5EF4-FFF2-40B4-BE49-F238E27FC236}">
                <a16:creationId xmlns:a16="http://schemas.microsoft.com/office/drawing/2014/main" id="{7DB76D6A-B033-4BF6-BC1D-6085C7F6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161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6" name="demo-input-text">
            <a:extLst xmlns:a="http://schemas.openxmlformats.org/drawingml/2006/main">
              <a:ext uri="{FF2B5EF4-FFF2-40B4-BE49-F238E27FC236}">
                <a16:creationId xmlns:a16="http://schemas.microsoft.com/office/drawing/2014/main" id="{43C205C9-CB1A-4BCF-B2EB-389CB77A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004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input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sequence</a:t>
            </a:r>
          </a:p>
        </p:txBody>
      </p:sp>
      <p:sp>
        <p:nvSpPr>
          <p:cNvPr id="7" name="demo-vector-box">
            <a:extLst xmlns:a="http://schemas.openxmlformats.org/drawingml/2006/main">
              <a:ext uri="{FF2B5EF4-FFF2-40B4-BE49-F238E27FC236}">
                <a16:creationId xmlns:a16="http://schemas.microsoft.com/office/drawing/2014/main" id="{4C8BC349-1633-41DB-B528-D0743514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38450"/>
            <a:ext cx="171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8" name="demo-vector-text">
            <a:extLst xmlns:a="http://schemas.openxmlformats.org/drawingml/2006/main">
              <a:ext uri="{FF2B5EF4-FFF2-40B4-BE49-F238E27FC236}">
                <a16:creationId xmlns:a16="http://schemas.microsoft.com/office/drawing/2014/main" id="{C2B6BD8B-3244-4D8C-B77D-1F35E994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embedding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vector</a:t>
            </a:r>
          </a:p>
        </p:txBody>
      </p:sp>
      <p:sp>
        <p:nvSpPr>
          <p:cNvPr id="9" name="demo-neighbor-box">
            <a:extLst xmlns:a="http://schemas.openxmlformats.org/drawingml/2006/main">
              <a:ext uri="{FF2B5EF4-FFF2-40B4-BE49-F238E27FC236}">
                <a16:creationId xmlns:a16="http://schemas.microsoft.com/office/drawing/2014/main" id="{A750AE2F-BFAB-4BB7-9329-8045852D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84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10" name="demo-neighbor-text">
            <a:extLst xmlns:a="http://schemas.openxmlformats.org/drawingml/2006/main">
              <a:ext uri="{FF2B5EF4-FFF2-40B4-BE49-F238E27FC236}">
                <a16:creationId xmlns:a16="http://schemas.microsoft.com/office/drawing/2014/main" id="{8B5EAEC6-F76B-4BFB-ABE0-E03B8A10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2004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nearest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proteins</a:t>
            </a:r>
          </a:p>
        </p:txBody>
      </p:sp>
      <p:sp>
        <p:nvSpPr>
          <p:cNvPr id="11" name="demo-output-box">
            <a:extLst xmlns:a="http://schemas.openxmlformats.org/drawingml/2006/main">
              <a:ext uri="{FF2B5EF4-FFF2-40B4-BE49-F238E27FC236}">
                <a16:creationId xmlns:a16="http://schemas.microsoft.com/office/drawing/2014/main" id="{1BBF3C06-4AA2-41F0-80DA-93633FD9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43200"/>
            <a:ext cx="219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12" name="demo-output-text">
            <a:extLst xmlns:a="http://schemas.openxmlformats.org/drawingml/2006/main">
              <a:ext uri="{FF2B5EF4-FFF2-40B4-BE49-F238E27FC236}">
                <a16:creationId xmlns:a16="http://schemas.microsoft.com/office/drawing/2014/main" id="{7C6E2B50-6028-46F3-810D-2F47BE19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004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labels and</a:t>
            </a:r>
          </a:p>
          <a:p xmlns:a="http://schemas.openxmlformats.org/drawingml/2006/main">
            <a:pPr algn="ctr">
              <a:defRPr sz="150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design ideas</a:t>
            </a:r>
          </a:p>
        </p:txBody>
      </p: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76500" y="3371850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953000" y="3371850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24750" y="33718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625F"/>
            </a:solidFill>
            <a:prstDash val="solid"/>
            <a:tailEnd type="arrow" w="med" len="med"/>
          </a:ln>
        </p:spPr>
      </p:cxnSp>
      <p:sp>
        <p:nvSpPr>
          <p:cNvPr id="16" name="demo-cue">
            <a:extLst xmlns:a="http://schemas.openxmlformats.org/drawingml/2006/main">
              <a:ext uri="{FF2B5EF4-FFF2-40B4-BE49-F238E27FC236}">
                <a16:creationId xmlns:a16="http://schemas.microsoft.com/office/drawing/2014/main" id="{51FDBB5B-7E3B-4F68-BFE4-D5BD306B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95850"/>
            <a:ext cx="902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Live question: which proteins are nearby, what function is likely, and what design idea follows?</a:t>
            </a:r>
          </a:p>
        </p:txBody>
      </p:sp>
      <p:sp>
        <p:nvSpPr>
          <p:cNvPr id="17" name="footer-source-22">
            <a:extLst xmlns:a="http://schemas.openxmlformats.org/drawingml/2006/main">
              <a:ext uri="{FF2B5EF4-FFF2-40B4-BE49-F238E27FC236}">
                <a16:creationId xmlns:a16="http://schemas.microsoft.com/office/drawing/2014/main" id="{1815EFFF-6251-4069-A03F-47D1E73C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footer-page-22">
            <a:extLst xmlns:a="http://schemas.openxmlformats.org/drawingml/2006/main">
              <a:ext uri="{FF2B5EF4-FFF2-40B4-BE49-F238E27FC236}">
                <a16:creationId xmlns:a16="http://schemas.microsoft.com/office/drawing/2014/main" id="{CFB32D35-D81C-4190-B431-E7E28FA5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3484557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3">
            <a:extLst xmlns:a="http://schemas.openxmlformats.org/drawingml/2006/main">
              <a:ext uri="{FF2B5EF4-FFF2-40B4-BE49-F238E27FC236}">
                <a16:creationId xmlns:a16="http://schemas.microsoft.com/office/drawing/2014/main" id="{5F050AA5-6EF5-4EC8-AAB0-AF2EDA4C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What Representation Learning Can Do in the Lab</a:t>
            </a:r>
          </a:p>
        </p:txBody>
      </p:sp>
      <p:sp>
        <p:nvSpPr>
          <p:cNvPr id="2" name="subtitle-23">
            <a:extLst xmlns:a="http://schemas.openxmlformats.org/drawingml/2006/main">
              <a:ext uri="{FF2B5EF4-FFF2-40B4-BE49-F238E27FC236}">
                <a16:creationId xmlns:a16="http://schemas.microsoft.com/office/drawing/2014/main" id="{AEBD17F1-02B0-4913-B560-A462512A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Vectors become tools for deciding what to test next.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BAECA1A-33B4-4266-BD10-4BE7F592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23">
            <a:extLst xmlns:a="http://schemas.openxmlformats.org/drawingml/2006/main">
              <a:ext uri="{FF2B5EF4-FFF2-40B4-BE49-F238E27FC236}">
                <a16:creationId xmlns:a16="http://schemas.microsoft.com/office/drawing/2014/main" id="{659939F7-EE63-41A9-9188-C4B8333A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ab-0">
            <a:extLst xmlns:a="http://schemas.openxmlformats.org/drawingml/2006/main">
              <a:ext uri="{FF2B5EF4-FFF2-40B4-BE49-F238E27FC236}">
                <a16:creationId xmlns:a16="http://schemas.microsoft.com/office/drawing/2014/main" id="{F41725AD-E2F2-490E-AB8E-E6284A16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286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8C7E"/>
            </a:solidFill>
            <a:prstDash val="solid"/>
          </a:ln>
        </p:spPr>
      </p:sp>
      <p:sp>
        <p:nvSpPr>
          <p:cNvPr id="6" name="lab-title-0">
            <a:extLst xmlns:a="http://schemas.openxmlformats.org/drawingml/2006/main">
              <a:ext uri="{FF2B5EF4-FFF2-40B4-BE49-F238E27FC236}">
                <a16:creationId xmlns:a16="http://schemas.microsoft.com/office/drawing/2014/main" id="{E58E73EB-3B98-460B-ADF2-5B5CB40F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86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annotate</a:t>
            </a:r>
          </a:p>
        </p:txBody>
      </p:sp>
      <p:sp>
        <p:nvSpPr>
          <p:cNvPr id="7" name="lab-copy-0">
            <a:extLst xmlns:a="http://schemas.openxmlformats.org/drawingml/2006/main">
              <a:ext uri="{FF2B5EF4-FFF2-40B4-BE49-F238E27FC236}">
                <a16:creationId xmlns:a16="http://schemas.microsoft.com/office/drawing/2014/main" id="{9FEB75B9-D89E-4671-A7EB-D4B991C8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suggest a function for an unknown sequence</a:t>
            </a:r>
          </a:p>
        </p:txBody>
      </p:sp>
      <p:sp>
        <p:nvSpPr>
          <p:cNvPr id="8" name="lab-1">
            <a:extLst xmlns:a="http://schemas.openxmlformats.org/drawingml/2006/main">
              <a:ext uri="{FF2B5EF4-FFF2-40B4-BE49-F238E27FC236}">
                <a16:creationId xmlns:a16="http://schemas.microsoft.com/office/drawing/2014/main" id="{26163968-763D-44DF-BC3F-8F879B23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91000"/>
            <a:ext cx="4286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FDB"/>
            </a:solidFill>
            <a:prstDash val="solid"/>
          </a:ln>
        </p:spPr>
      </p:sp>
      <p:sp>
        <p:nvSpPr>
          <p:cNvPr id="9" name="lab-title-1">
            <a:extLst xmlns:a="http://schemas.openxmlformats.org/drawingml/2006/main">
              <a:ext uri="{FF2B5EF4-FFF2-40B4-BE49-F238E27FC236}">
                <a16:creationId xmlns:a16="http://schemas.microsoft.com/office/drawing/2014/main" id="{F684D9CA-4FAB-43AF-BD3C-60C852B5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00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0" name="lab-copy-1">
            <a:extLst xmlns:a="http://schemas.openxmlformats.org/drawingml/2006/main">
              <a:ext uri="{FF2B5EF4-FFF2-40B4-BE49-F238E27FC236}">
                <a16:creationId xmlns:a16="http://schemas.microsoft.com/office/drawing/2014/main" id="{7FE8CAA8-73DB-4E04-97EC-C2C745DC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815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find related proteins across huge databases</a:t>
            </a:r>
          </a:p>
        </p:txBody>
      </p:sp>
      <p:sp>
        <p:nvSpPr>
          <p:cNvPr id="11" name="lab-2">
            <a:extLst xmlns:a="http://schemas.openxmlformats.org/drawingml/2006/main">
              <a:ext uri="{FF2B5EF4-FFF2-40B4-BE49-F238E27FC236}">
                <a16:creationId xmlns:a16="http://schemas.microsoft.com/office/drawing/2014/main" id="{D6410274-C8CE-4EA3-8FEB-158DEF58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286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CA62B"/>
            </a:solidFill>
            <a:prstDash val="solid"/>
          </a:ln>
        </p:spPr>
      </p:sp>
      <p:sp>
        <p:nvSpPr>
          <p:cNvPr id="12" name="lab-title-2">
            <a:extLst xmlns:a="http://schemas.openxmlformats.org/drawingml/2006/main">
              <a:ext uri="{FF2B5EF4-FFF2-40B4-BE49-F238E27FC236}">
                <a16:creationId xmlns:a16="http://schemas.microsoft.com/office/drawing/2014/main" id="{E1877A2A-8033-440E-83AF-CB48B2DF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CA6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CA62B"/>
                </a:solidFill>
                <a:latin typeface="Aptos"/>
                <a:ea typeface="Aptos"/>
                <a:cs typeface="Aptos"/>
              </a:rPr>
              <a:t>triage</a:t>
            </a:r>
          </a:p>
        </p:txBody>
      </p:sp>
      <p:sp>
        <p:nvSpPr>
          <p:cNvPr id="13" name="lab-copy-2">
            <a:extLst xmlns:a="http://schemas.openxmlformats.org/drawingml/2006/main">
              <a:ext uri="{FF2B5EF4-FFF2-40B4-BE49-F238E27FC236}">
                <a16:creationId xmlns:a16="http://schemas.microsoft.com/office/drawing/2014/main" id="{9B46F401-1FD6-4CBC-A5B1-71A7F960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670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prioritize experiments before spending bench time</a:t>
            </a:r>
          </a:p>
        </p:txBody>
      </p:sp>
      <p:sp>
        <p:nvSpPr>
          <p:cNvPr id="14" name="lab-3">
            <a:extLst xmlns:a="http://schemas.openxmlformats.org/drawingml/2006/main">
              <a:ext uri="{FF2B5EF4-FFF2-40B4-BE49-F238E27FC236}">
                <a16:creationId xmlns:a16="http://schemas.microsoft.com/office/drawing/2014/main" id="{EF08EBD4-FC4C-45F9-95BF-784AEF00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4286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5A28"/>
            </a:solidFill>
            <a:prstDash val="solid"/>
          </a:ln>
        </p:spPr>
      </p:sp>
      <p:sp>
        <p:nvSpPr>
          <p:cNvPr id="15" name="lab-title-3">
            <a:extLst xmlns:a="http://schemas.openxmlformats.org/drawingml/2006/main">
              <a:ext uri="{FF2B5EF4-FFF2-40B4-BE49-F238E27FC236}">
                <a16:creationId xmlns:a16="http://schemas.microsoft.com/office/drawing/2014/main" id="{8DC45F37-52A1-4796-92AB-7C42D955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00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16" name="lab-copy-3">
            <a:extLst xmlns:a="http://schemas.openxmlformats.org/drawingml/2006/main">
              <a:ext uri="{FF2B5EF4-FFF2-40B4-BE49-F238E27FC236}">
                <a16:creationId xmlns:a16="http://schemas.microsoft.com/office/drawing/2014/main" id="{148ACC24-B626-4EFC-9B5D-920FCB84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815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propose sequence changes worth testing</a:t>
            </a:r>
          </a:p>
        </p:txBody>
      </p:sp>
      <p:sp>
        <p:nvSpPr>
          <p:cNvPr id="17" name="footer-source-23">
            <a:extLst xmlns:a="http://schemas.openxmlformats.org/drawingml/2006/main">
              <a:ext uri="{FF2B5EF4-FFF2-40B4-BE49-F238E27FC236}">
                <a16:creationId xmlns:a16="http://schemas.microsoft.com/office/drawing/2014/main" id="{FA1470D9-5D15-4266-9610-E40FC4D5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footer-page-23">
            <a:extLst xmlns:a="http://schemas.openxmlformats.org/drawingml/2006/main">
              <a:ext uri="{FF2B5EF4-FFF2-40B4-BE49-F238E27FC236}">
                <a16:creationId xmlns:a16="http://schemas.microsoft.com/office/drawing/2014/main" id="{8DED8979-3494-4BC7-9BE7-06F1FCE2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0743025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4">
            <a:extLst xmlns:a="http://schemas.openxmlformats.org/drawingml/2006/main">
              <a:ext uri="{FF2B5EF4-FFF2-40B4-BE49-F238E27FC236}">
                <a16:creationId xmlns:a16="http://schemas.microsoft.com/office/drawing/2014/main" id="{4F6AD356-C76A-443E-909E-B6C07AE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Learn the Coordinates, Then Do the Math</a:t>
            </a:r>
          </a:p>
        </p:txBody>
      </p:sp>
      <p:sp>
        <p:nvSpPr>
          <p:cNvPr id="2" name="subtitle-24">
            <a:extLst xmlns:a="http://schemas.openxmlformats.org/drawingml/2006/main">
              <a:ext uri="{FF2B5EF4-FFF2-40B4-BE49-F238E27FC236}">
                <a16:creationId xmlns:a16="http://schemas.microsoft.com/office/drawing/2014/main" id="{D3AD9A28-5EDC-428F-B457-76A31625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Representation learning turns messy objects into useful geometry.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AED9D4D-A4F8-418A-ADBF-0C1EE7DB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" name="section-mark-24">
            <a:extLst xmlns:a="http://schemas.openxmlformats.org/drawingml/2006/main">
              <a:ext uri="{FF2B5EF4-FFF2-40B4-BE49-F238E27FC236}">
                <a16:creationId xmlns:a16="http://schemas.microsoft.com/office/drawing/2014/main" id="{64DC2CF2-6198-4A25-96B9-333ED3CE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nd-0">
            <a:extLst xmlns:a="http://schemas.openxmlformats.org/drawingml/2006/main">
              <a:ext uri="{FF2B5EF4-FFF2-40B4-BE49-F238E27FC236}">
                <a16:creationId xmlns:a16="http://schemas.microsoft.com/office/drawing/2014/main" id="{CED02A9B-3B43-4809-A002-22052B11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95550"/>
            <a:ext cx="1485900" cy="1485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F6FDB"/>
            </a:solidFill>
            <a:prstDash val="solid"/>
          </a:ln>
        </p:spPr>
      </p:sp>
      <p:sp>
        <p:nvSpPr>
          <p:cNvPr id="6" name="end-label-0">
            <a:extLst xmlns:a="http://schemas.openxmlformats.org/drawingml/2006/main">
              <a:ext uri="{FF2B5EF4-FFF2-40B4-BE49-F238E27FC236}">
                <a16:creationId xmlns:a16="http://schemas.microsoft.com/office/drawing/2014/main" id="{61AFC583-CD67-4AB9-BD51-27294E32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2895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7" name="end-1">
            <a:extLst xmlns:a="http://schemas.openxmlformats.org/drawingml/2006/main">
              <a:ext uri="{FF2B5EF4-FFF2-40B4-BE49-F238E27FC236}">
                <a16:creationId xmlns:a16="http://schemas.microsoft.com/office/drawing/2014/main" id="{79A3719E-CEBC-4678-88BF-5DE5F458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95550"/>
            <a:ext cx="1485900" cy="1485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F05A28"/>
            </a:solidFill>
            <a:prstDash val="solid"/>
          </a:ln>
        </p:spPr>
      </p:sp>
      <p:sp>
        <p:nvSpPr>
          <p:cNvPr id="8" name="end-label-1">
            <a:extLst xmlns:a="http://schemas.openxmlformats.org/drawingml/2006/main">
              <a:ext uri="{FF2B5EF4-FFF2-40B4-BE49-F238E27FC236}">
                <a16:creationId xmlns:a16="http://schemas.microsoft.com/office/drawing/2014/main" id="{BEE7302B-E93A-482F-83FC-F21CE001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2895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predict</a:t>
            </a:r>
          </a:p>
        </p:txBody>
      </p:sp>
      <p:sp>
        <p:nvSpPr>
          <p:cNvPr id="9" name="end-2">
            <a:extLst xmlns:a="http://schemas.openxmlformats.org/drawingml/2006/main">
              <a:ext uri="{FF2B5EF4-FFF2-40B4-BE49-F238E27FC236}">
                <a16:creationId xmlns:a16="http://schemas.microsoft.com/office/drawing/2014/main" id="{91D0FC71-5F3D-48DD-9C1A-59E40C3E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95550"/>
            <a:ext cx="1485900" cy="1485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6E5AEF"/>
            </a:solidFill>
            <a:prstDash val="solid"/>
          </a:ln>
        </p:spPr>
      </p:sp>
      <p:sp>
        <p:nvSpPr>
          <p:cNvPr id="10" name="end-label-2">
            <a:extLst xmlns:a="http://schemas.openxmlformats.org/drawingml/2006/main">
              <a:ext uri="{FF2B5EF4-FFF2-40B4-BE49-F238E27FC236}">
                <a16:creationId xmlns:a16="http://schemas.microsoft.com/office/drawing/2014/main" id="{8CF4B2FE-5877-4CE5-8190-8A683604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2895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6E5AE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E5AEF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1" name="end-3">
            <a:extLst xmlns:a="http://schemas.openxmlformats.org/drawingml/2006/main">
              <a:ext uri="{FF2B5EF4-FFF2-40B4-BE49-F238E27FC236}">
                <a16:creationId xmlns:a16="http://schemas.microsoft.com/office/drawing/2014/main" id="{1BACA995-3153-4E7D-B0D9-92A61BEF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95550"/>
            <a:ext cx="1485900" cy="1485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08C7E"/>
            </a:solidFill>
            <a:prstDash val="solid"/>
          </a:ln>
        </p:spPr>
      </p:sp>
      <p:sp>
        <p:nvSpPr>
          <p:cNvPr id="12" name="end-label-3">
            <a:extLst xmlns:a="http://schemas.openxmlformats.org/drawingml/2006/main">
              <a:ext uri="{FF2B5EF4-FFF2-40B4-BE49-F238E27FC236}">
                <a16:creationId xmlns:a16="http://schemas.microsoft.com/office/drawing/2014/main" id="{1E943BB5-2573-468A-A4CD-377CA4FF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8C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8C7E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13" name="final-line">
            <a:extLst xmlns:a="http://schemas.openxmlformats.org/drawingml/2006/main">
              <a:ext uri="{FF2B5EF4-FFF2-40B4-BE49-F238E27FC236}">
                <a16:creationId xmlns:a16="http://schemas.microsoft.com/office/drawing/2014/main" id="{6BED0768-2F6A-4297-8608-9E79EE86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01C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7201C"/>
                </a:solidFill>
                <a:latin typeface="Aptos"/>
                <a:ea typeface="Aptos"/>
                <a:cs typeface="Aptos"/>
              </a:rPr>
              <a:t>Cars, words, images, people, and proteins become points in spaces where math can act.</a:t>
            </a:r>
          </a:p>
        </p:txBody>
      </p:sp>
      <p:sp>
        <p:nvSpPr>
          <p:cNvPr id="14" name="questions">
            <a:extLst xmlns:a="http://schemas.openxmlformats.org/drawingml/2006/main">
              <a:ext uri="{FF2B5EF4-FFF2-40B4-BE49-F238E27FC236}">
                <a16:creationId xmlns:a16="http://schemas.microsoft.com/office/drawing/2014/main" id="{7E1E770E-6D50-4A72-8A7B-30F32133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8102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05A2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05A28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5" name="footer-source-24">
            <a:extLst xmlns:a="http://schemas.openxmlformats.org/drawingml/2006/main">
              <a:ext uri="{FF2B5EF4-FFF2-40B4-BE49-F238E27FC236}">
                <a16:creationId xmlns:a16="http://schemas.microsoft.com/office/drawing/2014/main" id="{A758D435-F433-41A7-AD85-731F1BC3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footer-page-24">
            <a:extLst xmlns:a="http://schemas.openxmlformats.org/drawingml/2006/main">
              <a:ext uri="{FF2B5EF4-FFF2-40B4-BE49-F238E27FC236}">
                <a16:creationId xmlns:a16="http://schemas.microsoft.com/office/drawing/2014/main" id="{093F4AC7-796D-4215-8334-48F3854D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744677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2026-06-25T02:22:12.4940000Z</dcterms:created>
  <dcterms:modified xsi:type="dcterms:W3CDTF">2026-06-25T02:22:12.4940000Z</dcterms:modified>
</coreProperties>
</file>